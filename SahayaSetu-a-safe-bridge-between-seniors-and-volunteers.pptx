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3"/>
  </p:notesMasterIdLst>
  <p:sldIdLst>
    <p:sldId id="266" r:id="rId2"/>
    <p:sldId id="256" r:id="rId3"/>
    <p:sldId id="257" r:id="rId4"/>
    <p:sldId id="258" r:id="rId5"/>
    <p:sldId id="259" r:id="rId6"/>
    <p:sldId id="260" r:id="rId7"/>
    <p:sldId id="261" r:id="rId8"/>
    <p:sldId id="262" r:id="rId9"/>
    <p:sldId id="263" r:id="rId10"/>
    <p:sldId id="264" r:id="rId11"/>
    <p:sldId id="265" r:id="rId12"/>
  </p:sldIdLst>
  <p:sldSz cx="12192000" cy="6858000"/>
  <p:notesSz cx="6858000" cy="12192000"/>
  <p:embeddedFontLst>
    <p:embeddedFont>
      <p:font typeface="IBM Plex Sans" panose="020B0503050203000203" pitchFamily="34" charset="0"/>
      <p:regular r:id="rId14"/>
    </p:embeddedFont>
    <p:embeddedFont>
      <p:font typeface="IBM Plex Sans Bold" panose="020B0803050203000203" charset="0"/>
      <p:regular r:id="rId15"/>
    </p:embeddedFont>
    <p:embeddedFont>
      <p:font typeface="IBM Plex Sans SemiBold" panose="020B0703050203000203" pitchFamily="34" charset="0"/>
      <p:regular r:id="rId16"/>
      <p:bold r:id="rId17"/>
      <p:boldItalic r:id="rId18"/>
    </p:embeddedFont>
    <p:embeddedFont>
      <p:font typeface="Sora Bold" panose="020B0604020202020204" charset="0"/>
      <p:regular r:id="rId1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4" d="100"/>
          <a:sy n="74" d="100"/>
        </p:scale>
        <p:origin x="35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04992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1]: Good morning, esteemed jury. We are presenting SahayaSetu, an assistance portal built for Problem #67. Across Indian urban centers, millions of senior citizens live alone without organized support networks. SahayaSetu creates a structured, safe bridge between these seniors and verified local volunteers, combining instant access with verification at every physical step.</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1]: When an elderly individual living independently requires urgent medicine or grocery assistance, existing options break down. Adult children are often away. Informal community groups lack accountability, and admitting an unvetted stranger into a private home is a severe personal security hazard. SahayaSetu was designed from the ground up to eliminate this exact vulnerability.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1]: Our platform operates as a closed-loop ecosystem of four interconnected roles. The senior initiates needs effortlessly. Remote family members receive transparent tracking updates. Local volunteers are notified within their immediate vicinity, while authorized administrators oversee background validation, volunteer credentials, and overall platform reliability.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1]: The operational flow is simple yet tamper-resistant. First, the senior creates a task. Second, the system evaluates nearby candidates. Third, a verified volunteer accepts, which reveals contact credentials securely. Finally, upon arrival, completion requires entering the senior's private one-time code into the volunteer terminal, proving physical presence.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2]: Here are the two actual user touchpoints running in our prototype. On the left is the senior interface, featuring bold touch targets and streamlined actions. On the right, nearby volunteers receive immediate push notifications with exact match parameters and distance calculations, closing the loop in seconds rather than hours.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3]: Most dispatch mechanisms hide behind opaque heuristics. Our scoring formula assigns clear, weighted values: 40% proximity, 25% verified skill capability, 20% immediate schedule availability, and 15% past reliability rating. A score of 92% is accompanied by an itemized breakdown so volunteers and families understand exactly why a match occurred.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3]: Trust cannot be retrofitted; it must be architectural. Volunteers undergo manual ID verification before entering the active pool. Private contact and address data stay fully masked until acceptance. At the door, arrival is authenticated using a secure OTP, while an integrated SOS fallback immediately coordinates urgent attention.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4]: Digital platforms fail seniors when design is an afterthought. SahayaSetu defaults to high contrast, large fonts, and local regional languages, completing requests in three simple taps. Administrators track key operational telemetry in real time: completed visits, volunteer hours logged, response times, and an outstanding 98.2% fulfilment rate.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3]: Our codebase is built on an enterprise-ready architecture. The client uses React, Tailwind, and Leaflet. The API tier runs Express with custom modules for scoring and OTP hashing. MongoDB handles transactional entities, while Socket.io drives low-latency socket communication. The Base44 deployment translates 1-to-1 to production cloud environments.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4]: We have validated the core concept. Today we have a functional prototype. Over the next 30 days we launch a community trial with a partner NGO. Within 90 days, SMS gateways will support elders without smartphones. By six months, wearable hardware hooks will enable multi-city scale. SahayaSetu delivers help, with trust. Thank you.</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F2F4ED"/>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pic>
        <p:nvPicPr>
          <p:cNvPr id="3"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F2F4ED"/>
        </a:solidFill>
        <a:effectLst/>
      </p:bgPr>
    </p:bg>
    <p:spTree>
      <p:nvGrpSpPr>
        <p:cNvPr id="1" name=""/>
        <p:cNvGrpSpPr/>
        <p:nvPr/>
      </p:nvGrpSpPr>
      <p:grpSpPr>
        <a:xfrm>
          <a:off x="0" y="0"/>
          <a:ext cx="0" cy="0"/>
          <a:chOff x="0" y="0"/>
          <a:chExt cx="0" cy="0"/>
        </a:xfrm>
      </p:grpSpPr>
      <p:pic>
        <p:nvPicPr>
          <p:cNvPr id="2"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8.jpe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hyperlink" Target="https://sahaya-bridge-care.base44.app/login" TargetMode="External"/><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9DE40A4-67BB-3CB6-8BB9-7CF73644F422}"/>
              </a:ext>
            </a:extLst>
          </p:cNvPr>
          <p:cNvPicPr>
            <a:picLocks noChangeAspect="1"/>
          </p:cNvPicPr>
          <p:nvPr/>
        </p:nvPicPr>
        <p:blipFill>
          <a:blip r:embed="rId2"/>
          <a:stretch>
            <a:fillRect/>
          </a:stretch>
        </p:blipFill>
        <p:spPr>
          <a:xfrm>
            <a:off x="-88898" y="-76215"/>
            <a:ext cx="12280898" cy="6934215"/>
          </a:xfrm>
          <a:prstGeom prst="rect">
            <a:avLst/>
          </a:prstGeom>
        </p:spPr>
      </p:pic>
    </p:spTree>
    <p:extLst>
      <p:ext uri="{BB962C8B-B14F-4D97-AF65-F5344CB8AC3E}">
        <p14:creationId xmlns:p14="http://schemas.microsoft.com/office/powerpoint/2010/main" val="23697104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609585" y="612775"/>
            <a:ext cx="10972526" cy="38100"/>
          </a:xfrm>
          <a:prstGeom prst="roundRect">
            <a:avLst>
              <a:gd name="adj" fmla="val 49999"/>
            </a:avLst>
          </a:prstGeom>
          <a:solidFill>
            <a:srgbClr val="083C35"/>
          </a:solidFill>
          <a:ln/>
        </p:spPr>
      </p:sp>
      <p:sp>
        <p:nvSpPr>
          <p:cNvPr id="3" name="Text 1"/>
          <p:cNvSpPr/>
          <p:nvPr/>
        </p:nvSpPr>
        <p:spPr>
          <a:xfrm>
            <a:off x="609585" y="1018730"/>
            <a:ext cx="11582110" cy="173137"/>
          </a:xfrm>
          <a:prstGeom prst="rect">
            <a:avLst/>
          </a:prstGeom>
          <a:noFill/>
          <a:ln/>
        </p:spPr>
        <p:txBody>
          <a:bodyPr wrap="none" lIns="0" tIns="0" rIns="0" bIns="0" rtlCol="0" anchor="t"/>
          <a:lstStyle/>
          <a:p>
            <a:pPr marL="0" indent="0" algn="l">
              <a:lnSpc>
                <a:spcPct val="103000"/>
              </a:lnSpc>
              <a:buNone/>
            </a:pPr>
            <a:r>
              <a:rPr lang="en-US" sz="1100" kern="100" spc="60" dirty="0">
                <a:solidFill>
                  <a:srgbClr val="10201D"/>
                </a:solidFill>
                <a:latin typeface="IBM Plex Sans SemiBold" pitchFamily="34" charset="0"/>
                <a:ea typeface="IBM Plex Sans SemiBold" pitchFamily="34" charset="-122"/>
                <a:cs typeface="IBM Plex Sans SemiBold" pitchFamily="34" charset="-120"/>
              </a:rPr>
              <a:t>PROBLEM #67 · SENIOR CITIZEN ASSISTANCE PORTAL</a:t>
            </a:r>
            <a:endParaRPr lang="en-US" sz="1100" dirty="0"/>
          </a:p>
        </p:txBody>
      </p:sp>
      <p:sp>
        <p:nvSpPr>
          <p:cNvPr id="4" name="Text 2"/>
          <p:cNvSpPr/>
          <p:nvPr/>
        </p:nvSpPr>
        <p:spPr>
          <a:xfrm>
            <a:off x="609585" y="1326805"/>
            <a:ext cx="10972526" cy="1184473"/>
          </a:xfrm>
          <a:prstGeom prst="rect">
            <a:avLst/>
          </a:prstGeom>
          <a:noFill/>
          <a:ln/>
        </p:spPr>
        <p:txBody>
          <a:bodyPr wrap="square" lIns="0" tIns="0" rIns="0" bIns="0" rtlCol="0" anchor="t">
            <a:normAutofit lnSpcReduction="10000"/>
          </a:bodyPr>
          <a:lstStyle/>
          <a:p>
            <a:pPr marL="0" indent="0" algn="l">
              <a:lnSpc>
                <a:spcPct val="88000"/>
              </a:lnSpc>
              <a:buNone/>
            </a:pPr>
            <a:r>
              <a:rPr lang="en-US" sz="4400" b="1" kern="100" spc="-88" dirty="0">
                <a:solidFill>
                  <a:srgbClr val="10201D"/>
                </a:solidFill>
                <a:latin typeface="Sora Bold" pitchFamily="34" charset="0"/>
                <a:ea typeface="Sora Bold" pitchFamily="34" charset="-122"/>
                <a:cs typeface="Sora Bold" pitchFamily="34" charset="-120"/>
              </a:rPr>
              <a:t>SahayaSetu: a safe bridge between seniors and volunteers</a:t>
            </a:r>
            <a:endParaRPr lang="en-US" sz="4400" dirty="0"/>
          </a:p>
        </p:txBody>
      </p:sp>
      <p:sp>
        <p:nvSpPr>
          <p:cNvPr id="5" name="Text 3"/>
          <p:cNvSpPr/>
          <p:nvPr/>
        </p:nvSpPr>
        <p:spPr>
          <a:xfrm>
            <a:off x="609585" y="2628880"/>
            <a:ext cx="10972526" cy="700881"/>
          </a:xfrm>
          <a:prstGeom prst="rect">
            <a:avLst/>
          </a:prstGeom>
          <a:noFill/>
          <a:ln/>
        </p:spPr>
        <p:txBody>
          <a:bodyPr wrap="square" lIns="0" tIns="0" rIns="0" bIns="0" rtlCol="0" anchor="t">
            <a:normAutofit/>
          </a:bodyPr>
          <a:lstStyle/>
          <a:p>
            <a:pPr marL="0" indent="0" algn="l">
              <a:lnSpc>
                <a:spcPct val="115000"/>
              </a:lnSpc>
              <a:buNone/>
            </a:pPr>
            <a:r>
              <a:rPr lang="en-US" sz="2000" dirty="0">
                <a:solidFill>
                  <a:srgbClr val="10201D"/>
                </a:solidFill>
                <a:latin typeface="IBM Plex Sans" pitchFamily="34" charset="0"/>
                <a:ea typeface="IBM Plex Sans" pitchFamily="34" charset="-122"/>
                <a:cs typeface="IBM Plex Sans" pitchFamily="34" charset="-120"/>
              </a:rPr>
              <a:t>A secure, explainable community coordination platform connecting seniors living alone with verified local volunteers for essential daily tasks.</a:t>
            </a:r>
            <a:endParaRPr lang="en-US" sz="2000" dirty="0"/>
          </a:p>
        </p:txBody>
      </p:sp>
      <p:sp>
        <p:nvSpPr>
          <p:cNvPr id="6" name="Shape 4"/>
          <p:cNvSpPr/>
          <p:nvPr/>
        </p:nvSpPr>
        <p:spPr>
          <a:xfrm>
            <a:off x="609585" y="5005784"/>
            <a:ext cx="5333867" cy="1293416"/>
          </a:xfrm>
          <a:prstGeom prst="roundRect">
            <a:avLst>
              <a:gd name="adj" fmla="val 16495"/>
            </a:avLst>
          </a:prstGeom>
          <a:solidFill>
            <a:srgbClr val="F2F4ED"/>
          </a:solidFill>
          <a:ln w="12700">
            <a:solidFill>
              <a:srgbClr val="CBD4CE"/>
            </a:solidFill>
            <a:prstDash val="solid"/>
          </a:ln>
          <a:effectLst>
            <a:outerShdw blurRad="227330" dist="74930" dir="5400000" algn="bl" rotWithShape="0">
              <a:srgbClr val="083C35">
                <a:alpha val="10000"/>
              </a:srgbClr>
            </a:outerShdw>
          </a:effectLst>
        </p:spPr>
      </p:sp>
      <p:sp>
        <p:nvSpPr>
          <p:cNvPr id="7" name="Text 5"/>
          <p:cNvSpPr/>
          <p:nvPr/>
        </p:nvSpPr>
        <p:spPr>
          <a:xfrm>
            <a:off x="850879" y="5202571"/>
            <a:ext cx="5092573" cy="184348"/>
          </a:xfrm>
          <a:prstGeom prst="rect">
            <a:avLst/>
          </a:prstGeom>
          <a:noFill/>
          <a:ln/>
        </p:spPr>
        <p:txBody>
          <a:bodyPr wrap="none" lIns="0" tIns="0" rIns="0" bIns="0" rtlCol="0" anchor="t"/>
          <a:lstStyle/>
          <a:p>
            <a:pPr marL="0" indent="0" algn="l">
              <a:lnSpc>
                <a:spcPct val="110000"/>
              </a:lnSpc>
              <a:buNone/>
            </a:pPr>
            <a:r>
              <a:rPr lang="en-US" sz="1100" dirty="0">
                <a:solidFill>
                  <a:srgbClr val="000000"/>
                </a:solidFill>
                <a:latin typeface="IBM Plex Sans" pitchFamily="34" charset="0"/>
                <a:ea typeface="IBM Plex Sans" pitchFamily="34" charset="-122"/>
                <a:cs typeface="IBM Plex Sans" pitchFamily="34" charset="-120"/>
              </a:rPr>
              <a:t>TEAM SUBMISSION</a:t>
            </a:r>
            <a:endParaRPr lang="en-US" sz="1100" dirty="0"/>
          </a:p>
        </p:txBody>
      </p:sp>
      <p:sp>
        <p:nvSpPr>
          <p:cNvPr id="8" name="Text 6"/>
          <p:cNvSpPr/>
          <p:nvPr/>
        </p:nvSpPr>
        <p:spPr>
          <a:xfrm>
            <a:off x="2412260" y="5583706"/>
            <a:ext cx="5092573" cy="245269"/>
          </a:xfrm>
          <a:prstGeom prst="rect">
            <a:avLst/>
          </a:prstGeom>
          <a:noFill/>
          <a:ln/>
        </p:spPr>
        <p:txBody>
          <a:bodyPr wrap="none" lIns="0" tIns="0" rIns="0" bIns="0" rtlCol="0" anchor="t"/>
          <a:lstStyle/>
          <a:p>
            <a:pPr marL="0" indent="0" algn="l">
              <a:lnSpc>
                <a:spcPct val="115000"/>
              </a:lnSpc>
              <a:buNone/>
            </a:pPr>
            <a:r>
              <a:rPr lang="en-US" sz="1400" b="1" dirty="0">
                <a:solidFill>
                  <a:srgbClr val="000000"/>
                </a:solidFill>
                <a:latin typeface="IBM Plex Sans Bold" pitchFamily="34" charset="0"/>
                <a:ea typeface="IBM Plex Sans Bold" pitchFamily="34" charset="-122"/>
                <a:cs typeface="IBM Plex Sans Bold" pitchFamily="34" charset="-120"/>
              </a:rPr>
              <a:t>[TEAM 06]</a:t>
            </a:r>
            <a:endParaRPr lang="en-US" sz="1400" dirty="0"/>
          </a:p>
        </p:txBody>
      </p:sp>
      <p:sp>
        <p:nvSpPr>
          <p:cNvPr id="10" name="Shape 8"/>
          <p:cNvSpPr/>
          <p:nvPr/>
        </p:nvSpPr>
        <p:spPr>
          <a:xfrm>
            <a:off x="6248244" y="5005784"/>
            <a:ext cx="5333867" cy="1293416"/>
          </a:xfrm>
          <a:prstGeom prst="roundRect">
            <a:avLst>
              <a:gd name="adj" fmla="val 16495"/>
            </a:avLst>
          </a:prstGeom>
          <a:solidFill>
            <a:srgbClr val="F2F4ED"/>
          </a:solidFill>
          <a:ln w="12700">
            <a:solidFill>
              <a:srgbClr val="CBD4CE"/>
            </a:solidFill>
            <a:prstDash val="solid"/>
          </a:ln>
          <a:effectLst>
            <a:outerShdw blurRad="227330" dist="74930" dir="5400000" algn="bl" rotWithShape="0">
              <a:srgbClr val="083C35">
                <a:alpha val="10000"/>
              </a:srgbClr>
            </a:outerShdw>
          </a:effectLst>
        </p:spPr>
      </p:sp>
      <p:sp>
        <p:nvSpPr>
          <p:cNvPr id="11" name="Text 9"/>
          <p:cNvSpPr/>
          <p:nvPr/>
        </p:nvSpPr>
        <p:spPr>
          <a:xfrm>
            <a:off x="6489538" y="5202571"/>
            <a:ext cx="5092573" cy="184348"/>
          </a:xfrm>
          <a:prstGeom prst="rect">
            <a:avLst/>
          </a:prstGeom>
          <a:noFill/>
          <a:ln/>
        </p:spPr>
        <p:txBody>
          <a:bodyPr wrap="none" lIns="0" tIns="0" rIns="0" bIns="0" rtlCol="0" anchor="t"/>
          <a:lstStyle/>
          <a:p>
            <a:pPr marL="0" indent="0" algn="l">
              <a:lnSpc>
                <a:spcPct val="110000"/>
              </a:lnSpc>
              <a:buNone/>
            </a:pPr>
            <a:r>
              <a:rPr lang="en-US" sz="1100" dirty="0">
                <a:solidFill>
                  <a:srgbClr val="000000"/>
                </a:solidFill>
                <a:latin typeface="IBM Plex Sans" pitchFamily="34" charset="0"/>
                <a:ea typeface="IBM Plex Sans" pitchFamily="34" charset="-122"/>
                <a:cs typeface="IBM Plex Sans" pitchFamily="34" charset="-120"/>
              </a:rPr>
              <a:t>CORE ARCHITECTURE</a:t>
            </a:r>
            <a:endParaRPr lang="en-US" sz="1100" dirty="0"/>
          </a:p>
        </p:txBody>
      </p:sp>
      <p:sp>
        <p:nvSpPr>
          <p:cNvPr id="12" name="Text 10"/>
          <p:cNvSpPr/>
          <p:nvPr/>
        </p:nvSpPr>
        <p:spPr>
          <a:xfrm>
            <a:off x="6489538" y="5535192"/>
            <a:ext cx="5092573" cy="245269"/>
          </a:xfrm>
          <a:prstGeom prst="rect">
            <a:avLst/>
          </a:prstGeom>
          <a:noFill/>
          <a:ln/>
        </p:spPr>
        <p:txBody>
          <a:bodyPr wrap="none" lIns="0" tIns="0" rIns="0" bIns="0" rtlCol="0" anchor="t"/>
          <a:lstStyle/>
          <a:p>
            <a:pPr marL="0" indent="0" algn="l">
              <a:lnSpc>
                <a:spcPct val="115000"/>
              </a:lnSpc>
              <a:buNone/>
            </a:pPr>
            <a:r>
              <a:rPr lang="en-US" sz="1400" b="1" dirty="0">
                <a:solidFill>
                  <a:srgbClr val="000000"/>
                </a:solidFill>
                <a:latin typeface="IBM Plex Sans Bold" pitchFamily="34" charset="0"/>
                <a:ea typeface="IBM Plex Sans Bold" pitchFamily="34" charset="-122"/>
                <a:cs typeface="IBM Plex Sans Bold" pitchFamily="34" charset="-120"/>
              </a:rPr>
              <a:t>MERN Stack · Base44 Prototype</a:t>
            </a:r>
            <a:endParaRPr lang="en-US" sz="1400" dirty="0"/>
          </a:p>
        </p:txBody>
      </p:sp>
      <p:sp>
        <p:nvSpPr>
          <p:cNvPr id="13" name="Text 11"/>
          <p:cNvSpPr/>
          <p:nvPr/>
        </p:nvSpPr>
        <p:spPr>
          <a:xfrm>
            <a:off x="6489538" y="5930638"/>
            <a:ext cx="5092573" cy="184348"/>
          </a:xfrm>
          <a:prstGeom prst="rect">
            <a:avLst/>
          </a:prstGeom>
          <a:noFill/>
          <a:ln/>
        </p:spPr>
        <p:txBody>
          <a:bodyPr wrap="none" lIns="0" tIns="0" rIns="0" bIns="0" rtlCol="0" anchor="t"/>
          <a:lstStyle/>
          <a:p>
            <a:pPr marL="0" indent="0" algn="l">
              <a:lnSpc>
                <a:spcPct val="110000"/>
              </a:lnSpc>
              <a:buNone/>
            </a:pPr>
            <a:r>
              <a:rPr lang="en-US" sz="1100" dirty="0">
                <a:solidFill>
                  <a:srgbClr val="000000"/>
                </a:solidFill>
                <a:latin typeface="IBM Plex Sans" pitchFamily="34" charset="0"/>
                <a:ea typeface="IBM Plex Sans" pitchFamily="34" charset="-122"/>
                <a:cs typeface="IBM Plex Sans" pitchFamily="34" charset="-120"/>
              </a:rPr>
              <a:t>OTP verification · Explainable scoring · Live SOS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558786" y="511175"/>
            <a:ext cx="11074123" cy="38100"/>
          </a:xfrm>
          <a:prstGeom prst="roundRect">
            <a:avLst>
              <a:gd name="adj" fmla="val 49999"/>
            </a:avLst>
          </a:prstGeom>
          <a:solidFill>
            <a:srgbClr val="083C35"/>
          </a:solidFill>
          <a:ln/>
        </p:spPr>
      </p:sp>
      <p:sp>
        <p:nvSpPr>
          <p:cNvPr id="3" name="Text 1"/>
          <p:cNvSpPr/>
          <p:nvPr/>
        </p:nvSpPr>
        <p:spPr>
          <a:xfrm>
            <a:off x="558786" y="840930"/>
            <a:ext cx="11632909" cy="173137"/>
          </a:xfrm>
          <a:prstGeom prst="rect">
            <a:avLst/>
          </a:prstGeom>
          <a:noFill/>
          <a:ln/>
        </p:spPr>
        <p:txBody>
          <a:bodyPr wrap="none" lIns="0" tIns="0" rIns="0" bIns="0" rtlCol="0" anchor="t"/>
          <a:lstStyle/>
          <a:p>
            <a:pPr marL="0" indent="0" algn="l">
              <a:lnSpc>
                <a:spcPct val="103000"/>
              </a:lnSpc>
              <a:buNone/>
            </a:pPr>
            <a:r>
              <a:rPr lang="en-US" sz="1100" kern="100" spc="60" dirty="0">
                <a:solidFill>
                  <a:srgbClr val="0A7C78"/>
                </a:solidFill>
                <a:latin typeface="IBM Plex Sans SemiBold" pitchFamily="34" charset="0"/>
                <a:ea typeface="IBM Plex Sans SemiBold" pitchFamily="34" charset="-122"/>
                <a:cs typeface="IBM Plex Sans SemiBold" pitchFamily="34" charset="-120"/>
              </a:rPr>
              <a:t>PROBLEM STATEMENT</a:t>
            </a:r>
            <a:endParaRPr lang="en-US" sz="1100" dirty="0"/>
          </a:p>
        </p:txBody>
      </p:sp>
      <p:sp>
        <p:nvSpPr>
          <p:cNvPr id="4" name="Text 2"/>
          <p:cNvSpPr/>
          <p:nvPr/>
        </p:nvSpPr>
        <p:spPr>
          <a:xfrm>
            <a:off x="558786" y="1139797"/>
            <a:ext cx="11074123" cy="915392"/>
          </a:xfrm>
          <a:prstGeom prst="rect">
            <a:avLst/>
          </a:prstGeom>
          <a:noFill/>
          <a:ln/>
        </p:spPr>
        <p:txBody>
          <a:bodyPr wrap="square" lIns="0" tIns="0" rIns="0" bIns="0" rtlCol="0" anchor="t">
            <a:normAutofit lnSpcReduction="10000"/>
          </a:bodyPr>
          <a:lstStyle/>
          <a:p>
            <a:pPr marL="0" indent="0" algn="l">
              <a:lnSpc>
                <a:spcPct val="88000"/>
              </a:lnSpc>
              <a:buNone/>
            </a:pPr>
            <a:r>
              <a:rPr lang="en-US" sz="3400" b="1" kern="100" spc="-68" dirty="0">
                <a:solidFill>
                  <a:srgbClr val="10201D"/>
                </a:solidFill>
                <a:latin typeface="Sora Bold" pitchFamily="34" charset="0"/>
                <a:ea typeface="Sora Bold" pitchFamily="34" charset="-122"/>
                <a:cs typeface="Sora Bold" pitchFamily="34" charset="-120"/>
              </a:rPr>
              <a:t>Seniors living alone have no safe, organized way to ask for help</a:t>
            </a:r>
            <a:endParaRPr lang="en-US" sz="3400" dirty="0"/>
          </a:p>
        </p:txBody>
      </p:sp>
      <p:sp>
        <p:nvSpPr>
          <p:cNvPr id="5" name="Shape 3"/>
          <p:cNvSpPr/>
          <p:nvPr/>
        </p:nvSpPr>
        <p:spPr>
          <a:xfrm>
            <a:off x="558786" y="2199779"/>
            <a:ext cx="3488146" cy="2721769"/>
          </a:xfrm>
          <a:prstGeom prst="roundRect">
            <a:avLst>
              <a:gd name="adj" fmla="val 7839"/>
            </a:avLst>
          </a:prstGeom>
          <a:solidFill>
            <a:srgbClr val="FFFFFF"/>
          </a:solidFill>
          <a:ln w="12700">
            <a:solidFill>
              <a:srgbClr val="CBD4CE"/>
            </a:solidFill>
            <a:prstDash val="solid"/>
          </a:ln>
          <a:effectLst>
            <a:outerShdw blurRad="227330" dist="74930" dir="5400000" algn="bl" rotWithShape="0">
              <a:srgbClr val="083C35">
                <a:alpha val="10000"/>
              </a:srgbClr>
            </a:outerShdw>
          </a:effectLst>
        </p:spPr>
      </p:sp>
      <p:sp>
        <p:nvSpPr>
          <p:cNvPr id="6" name="Shape 4"/>
          <p:cNvSpPr/>
          <p:nvPr/>
        </p:nvSpPr>
        <p:spPr>
          <a:xfrm>
            <a:off x="825479" y="2441079"/>
            <a:ext cx="1110230" cy="343495"/>
          </a:xfrm>
          <a:prstGeom prst="roundRect">
            <a:avLst>
              <a:gd name="adj" fmla="val 21118"/>
            </a:avLst>
          </a:prstGeom>
          <a:solidFill>
            <a:srgbClr val="D2F9F4"/>
          </a:solidFill>
          <a:ln/>
        </p:spPr>
      </p:sp>
      <p:sp>
        <p:nvSpPr>
          <p:cNvPr id="7" name="Text 5"/>
          <p:cNvSpPr/>
          <p:nvPr/>
        </p:nvSpPr>
        <p:spPr>
          <a:xfrm>
            <a:off x="954957" y="2518901"/>
            <a:ext cx="1460860" cy="214114"/>
          </a:xfrm>
          <a:prstGeom prst="rect">
            <a:avLst/>
          </a:prstGeom>
          <a:noFill/>
          <a:ln/>
        </p:spPr>
        <p:txBody>
          <a:bodyPr wrap="none" lIns="0" tIns="0" rIns="0" bIns="0" rtlCol="0" anchor="t"/>
          <a:lstStyle/>
          <a:p>
            <a:pPr marL="0" indent="0" algn="l">
              <a:lnSpc>
                <a:spcPct val="103000"/>
              </a:lnSpc>
              <a:buNone/>
            </a:pPr>
            <a:r>
              <a:rPr lang="en-US" sz="1350" kern="100" spc="14" dirty="0">
                <a:solidFill>
                  <a:srgbClr val="10201D"/>
                </a:solidFill>
                <a:latin typeface="IBM Plex Sans SemiBold" pitchFamily="34" charset="0"/>
                <a:ea typeface="IBM Plex Sans SemiBold" pitchFamily="34" charset="-122"/>
                <a:cs typeface="IBM Plex Sans SemiBold" pitchFamily="34" charset="-120"/>
              </a:rPr>
              <a:t>DISTANCE</a:t>
            </a:r>
            <a:endParaRPr lang="en-US" sz="1350" dirty="0"/>
          </a:p>
        </p:txBody>
      </p:sp>
      <p:sp>
        <p:nvSpPr>
          <p:cNvPr id="8" name="Text 6"/>
          <p:cNvSpPr/>
          <p:nvPr/>
        </p:nvSpPr>
        <p:spPr>
          <a:xfrm>
            <a:off x="825479" y="2921861"/>
            <a:ext cx="2954760" cy="301724"/>
          </a:xfrm>
          <a:prstGeom prst="rect">
            <a:avLst/>
          </a:prstGeom>
          <a:noFill/>
          <a:ln/>
        </p:spPr>
        <p:txBody>
          <a:bodyPr wrap="none" lIns="0" tIns="0" rIns="0" bIns="0" rtlCol="0" anchor="t"/>
          <a:lstStyle/>
          <a:p>
            <a:pPr marL="0" indent="0" algn="l">
              <a:lnSpc>
                <a:spcPct val="110000"/>
              </a:lnSpc>
              <a:buNone/>
            </a:pPr>
            <a:r>
              <a:rPr lang="en-US" sz="1800" dirty="0">
                <a:solidFill>
                  <a:srgbClr val="10201D"/>
                </a:solidFill>
                <a:latin typeface="IBM Plex Sans" pitchFamily="34" charset="0"/>
                <a:ea typeface="IBM Plex Sans" pitchFamily="34" charset="-122"/>
                <a:cs typeface="IBM Plex Sans" pitchFamily="34" charset="-120"/>
              </a:rPr>
              <a:t>Family is far away</a:t>
            </a:r>
            <a:endParaRPr lang="en-US" sz="1800" dirty="0"/>
          </a:p>
        </p:txBody>
      </p:sp>
      <p:sp>
        <p:nvSpPr>
          <p:cNvPr id="9" name="Text 7"/>
          <p:cNvSpPr/>
          <p:nvPr/>
        </p:nvSpPr>
        <p:spPr>
          <a:xfrm>
            <a:off x="825479" y="3402782"/>
            <a:ext cx="2954760" cy="981075"/>
          </a:xfrm>
          <a:prstGeom prst="rect">
            <a:avLst/>
          </a:prstGeom>
          <a:noFill/>
          <a:ln/>
        </p:spPr>
        <p:txBody>
          <a:bodyPr wrap="square" lIns="0" tIns="0" rIns="0" bIns="0" rtlCol="0" anchor="t">
            <a:normAutofit fontScale="92500"/>
          </a:bodyPr>
          <a:lstStyle/>
          <a:p>
            <a:pPr marL="0" indent="0" algn="l">
              <a:lnSpc>
                <a:spcPct val="115000"/>
              </a:lnSpc>
              <a:buNone/>
            </a:pPr>
            <a:r>
              <a:rPr lang="en-US" sz="1400" dirty="0">
                <a:solidFill>
                  <a:srgbClr val="10201D"/>
                </a:solidFill>
                <a:latin typeface="IBM Plex Sans" pitchFamily="34" charset="0"/>
                <a:ea typeface="IBM Plex Sans" pitchFamily="34" charset="-122"/>
                <a:cs typeface="IBM Plex Sans" pitchFamily="34" charset="-120"/>
              </a:rPr>
              <a:t>Children frequently reside in separate cities or abroad, making immediate physical assistance during routine difficulties impossible.</a:t>
            </a:r>
            <a:endParaRPr lang="en-US" sz="1400" dirty="0"/>
          </a:p>
        </p:txBody>
      </p:sp>
      <p:sp>
        <p:nvSpPr>
          <p:cNvPr id="10" name="Shape 8"/>
          <p:cNvSpPr/>
          <p:nvPr/>
        </p:nvSpPr>
        <p:spPr>
          <a:xfrm>
            <a:off x="4351725" y="2199779"/>
            <a:ext cx="3488146" cy="2721769"/>
          </a:xfrm>
          <a:prstGeom prst="roundRect">
            <a:avLst>
              <a:gd name="adj" fmla="val 7839"/>
            </a:avLst>
          </a:prstGeom>
          <a:solidFill>
            <a:srgbClr val="FFFFFF"/>
          </a:solidFill>
          <a:ln w="12700">
            <a:solidFill>
              <a:srgbClr val="CBD4CE"/>
            </a:solidFill>
            <a:prstDash val="solid"/>
          </a:ln>
          <a:effectLst>
            <a:outerShdw blurRad="227330" dist="74930" dir="5400000" algn="bl" rotWithShape="0">
              <a:srgbClr val="083C35">
                <a:alpha val="10000"/>
              </a:srgbClr>
            </a:outerShdw>
          </a:effectLst>
        </p:spPr>
      </p:sp>
      <p:sp>
        <p:nvSpPr>
          <p:cNvPr id="11" name="Shape 9"/>
          <p:cNvSpPr/>
          <p:nvPr/>
        </p:nvSpPr>
        <p:spPr>
          <a:xfrm>
            <a:off x="4618418" y="2441079"/>
            <a:ext cx="1315905" cy="343495"/>
          </a:xfrm>
          <a:prstGeom prst="roundRect">
            <a:avLst>
              <a:gd name="adj" fmla="val 21118"/>
            </a:avLst>
          </a:prstGeom>
          <a:solidFill>
            <a:srgbClr val="D2F9F4"/>
          </a:solidFill>
          <a:ln/>
        </p:spPr>
      </p:sp>
      <p:sp>
        <p:nvSpPr>
          <p:cNvPr id="12" name="Text 10"/>
          <p:cNvSpPr/>
          <p:nvPr/>
        </p:nvSpPr>
        <p:spPr>
          <a:xfrm>
            <a:off x="4747895" y="2518901"/>
            <a:ext cx="1666536" cy="214114"/>
          </a:xfrm>
          <a:prstGeom prst="rect">
            <a:avLst/>
          </a:prstGeom>
          <a:noFill/>
          <a:ln/>
        </p:spPr>
        <p:txBody>
          <a:bodyPr wrap="none" lIns="0" tIns="0" rIns="0" bIns="0" rtlCol="0" anchor="t"/>
          <a:lstStyle/>
          <a:p>
            <a:pPr marL="0" indent="0" algn="l">
              <a:lnSpc>
                <a:spcPct val="103000"/>
              </a:lnSpc>
              <a:buNone/>
            </a:pPr>
            <a:r>
              <a:rPr lang="en-US" sz="1350" kern="100" spc="14" dirty="0">
                <a:solidFill>
                  <a:srgbClr val="10201D"/>
                </a:solidFill>
                <a:latin typeface="IBM Plex Sans SemiBold" pitchFamily="34" charset="0"/>
                <a:ea typeface="IBM Plex Sans SemiBold" pitchFamily="34" charset="-122"/>
                <a:cs typeface="IBM Plex Sans SemiBold" pitchFamily="34" charset="-120"/>
              </a:rPr>
              <a:t>UNVERIFIED</a:t>
            </a:r>
            <a:endParaRPr lang="en-US" sz="1350" dirty="0"/>
          </a:p>
        </p:txBody>
      </p:sp>
      <p:sp>
        <p:nvSpPr>
          <p:cNvPr id="13" name="Text 11"/>
          <p:cNvSpPr/>
          <p:nvPr/>
        </p:nvSpPr>
        <p:spPr>
          <a:xfrm>
            <a:off x="4618418" y="2921861"/>
            <a:ext cx="2954760" cy="301724"/>
          </a:xfrm>
          <a:prstGeom prst="rect">
            <a:avLst/>
          </a:prstGeom>
          <a:noFill/>
          <a:ln/>
        </p:spPr>
        <p:txBody>
          <a:bodyPr wrap="none" lIns="0" tIns="0" rIns="0" bIns="0" rtlCol="0" anchor="t"/>
          <a:lstStyle/>
          <a:p>
            <a:pPr marL="0" indent="0" algn="l">
              <a:lnSpc>
                <a:spcPct val="110000"/>
              </a:lnSpc>
              <a:buNone/>
            </a:pPr>
            <a:r>
              <a:rPr lang="en-US" sz="1800" dirty="0">
                <a:solidFill>
                  <a:srgbClr val="10201D"/>
                </a:solidFill>
                <a:latin typeface="IBM Plex Sans" pitchFamily="34" charset="0"/>
                <a:ea typeface="IBM Plex Sans" pitchFamily="34" charset="-122"/>
                <a:cs typeface="IBM Plex Sans" pitchFamily="34" charset="-120"/>
              </a:rPr>
              <a:t>Informal help is unverified</a:t>
            </a:r>
            <a:endParaRPr lang="en-US" sz="1800" dirty="0"/>
          </a:p>
        </p:txBody>
      </p:sp>
      <p:sp>
        <p:nvSpPr>
          <p:cNvPr id="14" name="Text 12"/>
          <p:cNvSpPr/>
          <p:nvPr/>
        </p:nvSpPr>
        <p:spPr>
          <a:xfrm>
            <a:off x="4618418" y="3402782"/>
            <a:ext cx="2954760" cy="981075"/>
          </a:xfrm>
          <a:prstGeom prst="rect">
            <a:avLst/>
          </a:prstGeom>
          <a:noFill/>
          <a:ln/>
        </p:spPr>
        <p:txBody>
          <a:bodyPr wrap="square" lIns="0" tIns="0" rIns="0" bIns="0" rtlCol="0" anchor="t">
            <a:normAutofit/>
          </a:bodyPr>
          <a:lstStyle/>
          <a:p>
            <a:pPr marL="0" indent="0" algn="l">
              <a:lnSpc>
                <a:spcPct val="115000"/>
              </a:lnSpc>
              <a:buNone/>
            </a:pPr>
            <a:r>
              <a:rPr lang="en-US" sz="1400" dirty="0">
                <a:solidFill>
                  <a:srgbClr val="10201D"/>
                </a:solidFill>
                <a:latin typeface="IBM Plex Sans" pitchFamily="34" charset="0"/>
                <a:ea typeface="IBM Plex Sans" pitchFamily="34" charset="-122"/>
                <a:cs typeface="IBM Plex Sans" pitchFamily="34" charset="-120"/>
              </a:rPr>
              <a:t>Reliance on unstructured WhatsApp groups and informal neighborhood inquiries leaves seniors vulnerable to delayed or canceled support.</a:t>
            </a:r>
            <a:endParaRPr lang="en-US" sz="1400" dirty="0"/>
          </a:p>
        </p:txBody>
      </p:sp>
      <p:sp>
        <p:nvSpPr>
          <p:cNvPr id="15" name="Shape 13"/>
          <p:cNvSpPr/>
          <p:nvPr/>
        </p:nvSpPr>
        <p:spPr>
          <a:xfrm>
            <a:off x="8144663" y="2199779"/>
            <a:ext cx="3488246" cy="2721769"/>
          </a:xfrm>
          <a:prstGeom prst="roundRect">
            <a:avLst>
              <a:gd name="adj" fmla="val 7839"/>
            </a:avLst>
          </a:prstGeom>
          <a:solidFill>
            <a:srgbClr val="FFFFFF"/>
          </a:solidFill>
          <a:ln w="12700">
            <a:solidFill>
              <a:srgbClr val="CBD4CE"/>
            </a:solidFill>
            <a:prstDash val="solid"/>
          </a:ln>
          <a:effectLst>
            <a:outerShdw blurRad="227330" dist="74930" dir="5400000" algn="bl" rotWithShape="0">
              <a:srgbClr val="083C35">
                <a:alpha val="10000"/>
              </a:srgbClr>
            </a:outerShdw>
          </a:effectLst>
        </p:spPr>
      </p:sp>
      <p:sp>
        <p:nvSpPr>
          <p:cNvPr id="16" name="Shape 14"/>
          <p:cNvSpPr/>
          <p:nvPr/>
        </p:nvSpPr>
        <p:spPr>
          <a:xfrm>
            <a:off x="8411357" y="2441079"/>
            <a:ext cx="1618317" cy="343495"/>
          </a:xfrm>
          <a:prstGeom prst="roundRect">
            <a:avLst>
              <a:gd name="adj" fmla="val 21118"/>
            </a:avLst>
          </a:prstGeom>
          <a:solidFill>
            <a:srgbClr val="D2F9F4"/>
          </a:solidFill>
          <a:ln/>
        </p:spPr>
      </p:sp>
      <p:sp>
        <p:nvSpPr>
          <p:cNvPr id="17" name="Text 15"/>
          <p:cNvSpPr/>
          <p:nvPr/>
        </p:nvSpPr>
        <p:spPr>
          <a:xfrm>
            <a:off x="8540834" y="2518901"/>
            <a:ext cx="1968947" cy="214114"/>
          </a:xfrm>
          <a:prstGeom prst="rect">
            <a:avLst/>
          </a:prstGeom>
          <a:noFill/>
          <a:ln/>
        </p:spPr>
        <p:txBody>
          <a:bodyPr wrap="none" lIns="0" tIns="0" rIns="0" bIns="0" rtlCol="0" anchor="t"/>
          <a:lstStyle/>
          <a:p>
            <a:pPr marL="0" indent="0" algn="l">
              <a:lnSpc>
                <a:spcPct val="103000"/>
              </a:lnSpc>
              <a:buNone/>
            </a:pPr>
            <a:r>
              <a:rPr lang="en-US" sz="1350" kern="100" spc="14" dirty="0">
                <a:solidFill>
                  <a:srgbClr val="10201D"/>
                </a:solidFill>
                <a:latin typeface="IBM Plex Sans SemiBold" pitchFamily="34" charset="0"/>
                <a:ea typeface="IBM Plex Sans SemiBold" pitchFamily="34" charset="-122"/>
                <a:cs typeface="IBM Plex Sans SemiBold" pitchFamily="34" charset="-120"/>
              </a:rPr>
              <a:t>VULNERABILITY</a:t>
            </a:r>
            <a:endParaRPr lang="en-US" sz="1350" dirty="0"/>
          </a:p>
        </p:txBody>
      </p:sp>
      <p:sp>
        <p:nvSpPr>
          <p:cNvPr id="18" name="Text 16"/>
          <p:cNvSpPr/>
          <p:nvPr/>
        </p:nvSpPr>
        <p:spPr>
          <a:xfrm>
            <a:off x="8411357" y="2921861"/>
            <a:ext cx="2954859" cy="603448"/>
          </a:xfrm>
          <a:prstGeom prst="rect">
            <a:avLst/>
          </a:prstGeom>
          <a:noFill/>
          <a:ln/>
        </p:spPr>
        <p:txBody>
          <a:bodyPr wrap="square" lIns="0" tIns="0" rIns="0" bIns="0" rtlCol="0" anchor="t">
            <a:normAutofit/>
          </a:bodyPr>
          <a:lstStyle/>
          <a:p>
            <a:pPr marL="0" indent="0" algn="l">
              <a:lnSpc>
                <a:spcPct val="110000"/>
              </a:lnSpc>
              <a:buNone/>
            </a:pPr>
            <a:r>
              <a:rPr lang="en-US" sz="1800" dirty="0">
                <a:solidFill>
                  <a:srgbClr val="10201D"/>
                </a:solidFill>
                <a:latin typeface="IBM Plex Sans" pitchFamily="34" charset="0"/>
                <a:ea typeface="IBM Plex Sans" pitchFamily="34" charset="-122"/>
                <a:cs typeface="IBM Plex Sans" pitchFamily="34" charset="-120"/>
              </a:rPr>
              <a:t>Strangers entering a home is a real safety risk</a:t>
            </a:r>
            <a:endParaRPr lang="en-US" sz="1800" dirty="0"/>
          </a:p>
        </p:txBody>
      </p:sp>
      <p:sp>
        <p:nvSpPr>
          <p:cNvPr id="19" name="Text 17"/>
          <p:cNvSpPr/>
          <p:nvPr/>
        </p:nvSpPr>
        <p:spPr>
          <a:xfrm>
            <a:off x="8411357" y="3704507"/>
            <a:ext cx="2954859" cy="981075"/>
          </a:xfrm>
          <a:prstGeom prst="rect">
            <a:avLst/>
          </a:prstGeom>
          <a:noFill/>
          <a:ln/>
        </p:spPr>
        <p:txBody>
          <a:bodyPr wrap="square" lIns="0" tIns="0" rIns="0" bIns="0" rtlCol="0" anchor="t">
            <a:normAutofit/>
          </a:bodyPr>
          <a:lstStyle/>
          <a:p>
            <a:pPr marL="0" indent="0" algn="l">
              <a:lnSpc>
                <a:spcPct val="115000"/>
              </a:lnSpc>
              <a:buNone/>
            </a:pPr>
            <a:r>
              <a:rPr lang="en-US" sz="1400" dirty="0">
                <a:solidFill>
                  <a:srgbClr val="10201D"/>
                </a:solidFill>
                <a:latin typeface="IBM Plex Sans" pitchFamily="34" charset="0"/>
                <a:ea typeface="IBM Plex Sans" pitchFamily="34" charset="-122"/>
                <a:cs typeface="IBM Plex Sans" pitchFamily="34" charset="-120"/>
              </a:rPr>
              <a:t>Without strict identity checks, unmonitored visits introduce fear, fraud exposure, and documented security threats.</a:t>
            </a:r>
            <a:endParaRPr lang="en-US" sz="1400" dirty="0"/>
          </a:p>
        </p:txBody>
      </p:sp>
      <p:sp>
        <p:nvSpPr>
          <p:cNvPr id="20" name="Shape 18"/>
          <p:cNvSpPr/>
          <p:nvPr/>
        </p:nvSpPr>
        <p:spPr>
          <a:xfrm>
            <a:off x="558786" y="5825331"/>
            <a:ext cx="11074123" cy="575469"/>
          </a:xfrm>
          <a:prstGeom prst="roundRect">
            <a:avLst>
              <a:gd name="adj" fmla="val 37075"/>
            </a:avLst>
          </a:prstGeom>
          <a:solidFill>
            <a:srgbClr val="F2F4ED"/>
          </a:solidFill>
          <a:ln w="12700">
            <a:solidFill>
              <a:srgbClr val="CBD4CE"/>
            </a:solidFill>
            <a:prstDash val="solid"/>
          </a:ln>
          <a:effectLst>
            <a:outerShdw blurRad="227330" dist="74930" dir="5400000" algn="bl" rotWithShape="0">
              <a:srgbClr val="083C35">
                <a:alpha val="10000"/>
              </a:srgbClr>
            </a:outerShdw>
          </a:effectLst>
        </p:spPr>
      </p:sp>
      <p:sp>
        <p:nvSpPr>
          <p:cNvPr id="21" name="Text 19"/>
          <p:cNvSpPr/>
          <p:nvPr/>
        </p:nvSpPr>
        <p:spPr>
          <a:xfrm>
            <a:off x="800080" y="5995765"/>
            <a:ext cx="10832829" cy="245269"/>
          </a:xfrm>
          <a:prstGeom prst="rect">
            <a:avLst/>
          </a:prstGeom>
          <a:noFill/>
          <a:ln/>
        </p:spPr>
        <p:txBody>
          <a:bodyPr wrap="none" lIns="0" tIns="0" rIns="0" bIns="0" rtlCol="0" anchor="t"/>
          <a:lstStyle/>
          <a:p>
            <a:pPr marL="0" indent="0" algn="l">
              <a:lnSpc>
                <a:spcPct val="115000"/>
              </a:lnSpc>
              <a:buNone/>
            </a:pPr>
            <a:r>
              <a:rPr lang="en-US" sz="1400" b="1" dirty="0">
                <a:solidFill>
                  <a:srgbClr val="000000"/>
                </a:solidFill>
                <a:latin typeface="IBM Plex Sans Bold" pitchFamily="34" charset="0"/>
                <a:ea typeface="IBM Plex Sans Bold" pitchFamily="34" charset="-122"/>
                <a:cs typeface="IBM Plex Sans Bold" pitchFamily="34" charset="-120"/>
              </a:rPr>
              <a:t>Verified Context:</a:t>
            </a:r>
            <a:r>
              <a:rPr lang="en-US" sz="1400" dirty="0">
                <a:solidFill>
                  <a:srgbClr val="000000"/>
                </a:solidFill>
                <a:latin typeface="IBM Plex Sans" pitchFamily="34" charset="0"/>
                <a:ea typeface="IBM Plex Sans" pitchFamily="34" charset="-122"/>
                <a:cs typeface="IBM Plex Sans" pitchFamily="34" charset="-120"/>
              </a:rPr>
              <a:t> [ADD VERIFIED STAT + SOURCE]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58786" y="511175"/>
            <a:ext cx="11074123" cy="38100"/>
          </a:xfrm>
          <a:prstGeom prst="roundRect">
            <a:avLst>
              <a:gd name="adj" fmla="val 49999"/>
            </a:avLst>
          </a:prstGeom>
          <a:solidFill>
            <a:srgbClr val="083C35"/>
          </a:solidFill>
          <a:ln/>
        </p:spPr>
      </p:sp>
      <p:sp>
        <p:nvSpPr>
          <p:cNvPr id="3" name="Text 1"/>
          <p:cNvSpPr/>
          <p:nvPr/>
        </p:nvSpPr>
        <p:spPr>
          <a:xfrm>
            <a:off x="558786" y="840930"/>
            <a:ext cx="11632909" cy="173137"/>
          </a:xfrm>
          <a:prstGeom prst="rect">
            <a:avLst/>
          </a:prstGeom>
          <a:noFill/>
          <a:ln/>
        </p:spPr>
        <p:txBody>
          <a:bodyPr wrap="none" lIns="0" tIns="0" rIns="0" bIns="0" rtlCol="0" anchor="t"/>
          <a:lstStyle/>
          <a:p>
            <a:pPr marL="0" indent="0" algn="l">
              <a:lnSpc>
                <a:spcPct val="103000"/>
              </a:lnSpc>
              <a:buNone/>
            </a:pPr>
            <a:r>
              <a:rPr lang="en-US" sz="1100" kern="100" spc="60" dirty="0">
                <a:solidFill>
                  <a:srgbClr val="0A7C78"/>
                </a:solidFill>
                <a:latin typeface="IBM Plex Sans SemiBold" pitchFamily="34" charset="0"/>
                <a:ea typeface="IBM Plex Sans SemiBold" pitchFamily="34" charset="-122"/>
                <a:cs typeface="IBM Plex Sans SemiBold" pitchFamily="34" charset="-120"/>
              </a:rPr>
              <a:t>STAKEHOLDER ARCHITECTURE</a:t>
            </a:r>
            <a:endParaRPr lang="en-US" sz="1100" dirty="0"/>
          </a:p>
        </p:txBody>
      </p:sp>
      <p:sp>
        <p:nvSpPr>
          <p:cNvPr id="4" name="Text 2"/>
          <p:cNvSpPr/>
          <p:nvPr/>
        </p:nvSpPr>
        <p:spPr>
          <a:xfrm>
            <a:off x="558786" y="1139797"/>
            <a:ext cx="11074123" cy="457696"/>
          </a:xfrm>
          <a:prstGeom prst="rect">
            <a:avLst/>
          </a:prstGeom>
          <a:noFill/>
          <a:ln/>
        </p:spPr>
        <p:txBody>
          <a:bodyPr wrap="none" lIns="0" tIns="0" rIns="0" bIns="0" rtlCol="0" anchor="t"/>
          <a:lstStyle/>
          <a:p>
            <a:pPr marL="0" indent="0" algn="l">
              <a:lnSpc>
                <a:spcPct val="88000"/>
              </a:lnSpc>
              <a:buNone/>
            </a:pPr>
            <a:r>
              <a:rPr lang="en-US" sz="3400" b="1" kern="100" spc="-68" dirty="0">
                <a:solidFill>
                  <a:srgbClr val="10201D"/>
                </a:solidFill>
                <a:latin typeface="Sora Bold" pitchFamily="34" charset="0"/>
                <a:ea typeface="Sora Bold" pitchFamily="34" charset="-122"/>
                <a:cs typeface="Sora Bold" pitchFamily="34" charset="-120"/>
              </a:rPr>
              <a:t>One platform, four roles, one shared goal</a:t>
            </a:r>
            <a:endParaRPr lang="en-US" sz="3400" dirty="0"/>
          </a:p>
        </p:txBody>
      </p:sp>
      <p:sp>
        <p:nvSpPr>
          <p:cNvPr id="5" name="Shape 3"/>
          <p:cNvSpPr/>
          <p:nvPr/>
        </p:nvSpPr>
        <p:spPr>
          <a:xfrm>
            <a:off x="558786" y="1767483"/>
            <a:ext cx="2539936" cy="2310705"/>
          </a:xfrm>
          <a:prstGeom prst="roundRect">
            <a:avLst>
              <a:gd name="adj" fmla="val 9233"/>
            </a:avLst>
          </a:prstGeom>
          <a:solidFill>
            <a:srgbClr val="FFFFFF"/>
          </a:solidFill>
          <a:ln w="25399">
            <a:solidFill>
              <a:srgbClr val="CBCFC0"/>
            </a:solidFill>
            <a:prstDash val="solid"/>
          </a:ln>
          <a:effectLst>
            <a:outerShdw blurRad="227330" dist="74930" dir="5400000" algn="bl" rotWithShape="0">
              <a:srgbClr val="083C35">
                <a:alpha val="10000"/>
              </a:srgbClr>
            </a:outerShdw>
          </a:effectLst>
        </p:spPr>
      </p:sp>
      <p:pic>
        <p:nvPicPr>
          <p:cNvPr id="6" name="Image 0" descr="preencoded.png"/>
          <p:cNvPicPr>
            <a:picLocks noChangeAspect="1"/>
          </p:cNvPicPr>
          <p:nvPr/>
        </p:nvPicPr>
        <p:blipFill>
          <a:blip r:embed="rId3"/>
          <a:stretch>
            <a:fillRect/>
          </a:stretch>
        </p:blipFill>
        <p:spPr>
          <a:xfrm>
            <a:off x="787380" y="2021483"/>
            <a:ext cx="431789" cy="431800"/>
          </a:xfrm>
          <a:prstGeom prst="rect">
            <a:avLst/>
          </a:prstGeom>
        </p:spPr>
      </p:pic>
      <p:sp>
        <p:nvSpPr>
          <p:cNvPr id="7" name="Text 4"/>
          <p:cNvSpPr/>
          <p:nvPr/>
        </p:nvSpPr>
        <p:spPr>
          <a:xfrm>
            <a:off x="787380" y="2612795"/>
            <a:ext cx="2082748" cy="301724"/>
          </a:xfrm>
          <a:prstGeom prst="rect">
            <a:avLst/>
          </a:prstGeom>
          <a:noFill/>
          <a:ln/>
        </p:spPr>
        <p:txBody>
          <a:bodyPr wrap="none" lIns="0" tIns="0" rIns="0" bIns="0" rtlCol="0" anchor="t"/>
          <a:lstStyle/>
          <a:p>
            <a:pPr marL="0" indent="0" algn="l">
              <a:lnSpc>
                <a:spcPct val="110000"/>
              </a:lnSpc>
              <a:buNone/>
            </a:pPr>
            <a:r>
              <a:rPr lang="en-US" sz="1800" dirty="0">
                <a:solidFill>
                  <a:srgbClr val="10201D"/>
                </a:solidFill>
                <a:latin typeface="IBM Plex Sans" pitchFamily="34" charset="0"/>
                <a:ea typeface="IBM Plex Sans" pitchFamily="34" charset="-122"/>
                <a:cs typeface="IBM Plex Sans" pitchFamily="34" charset="-120"/>
              </a:rPr>
              <a:t>Senior</a:t>
            </a:r>
            <a:endParaRPr lang="en-US" sz="1800" dirty="0"/>
          </a:p>
        </p:txBody>
      </p:sp>
      <p:sp>
        <p:nvSpPr>
          <p:cNvPr id="8" name="Text 5"/>
          <p:cNvSpPr/>
          <p:nvPr/>
        </p:nvSpPr>
        <p:spPr>
          <a:xfrm>
            <a:off x="787380" y="3093716"/>
            <a:ext cx="2082748" cy="735806"/>
          </a:xfrm>
          <a:prstGeom prst="rect">
            <a:avLst/>
          </a:prstGeom>
          <a:noFill/>
          <a:ln/>
        </p:spPr>
        <p:txBody>
          <a:bodyPr wrap="square" lIns="0" tIns="0" rIns="0" bIns="0" rtlCol="0" anchor="t">
            <a:normAutofit/>
          </a:bodyPr>
          <a:lstStyle/>
          <a:p>
            <a:pPr marL="0" indent="0" algn="l">
              <a:lnSpc>
                <a:spcPct val="115000"/>
              </a:lnSpc>
              <a:buNone/>
            </a:pPr>
            <a:r>
              <a:rPr lang="en-US" sz="1400" dirty="0">
                <a:solidFill>
                  <a:srgbClr val="10201D"/>
                </a:solidFill>
                <a:latin typeface="IBM Plex Sans" pitchFamily="34" charset="0"/>
                <a:ea typeface="IBM Plex Sans" pitchFamily="34" charset="-122"/>
                <a:cs typeface="IBM Plex Sans" pitchFamily="34" charset="-120"/>
              </a:rPr>
              <a:t>Asks for help in a few taps with high-contrast accessibility controls.</a:t>
            </a:r>
            <a:endParaRPr lang="en-US" sz="1400" dirty="0"/>
          </a:p>
        </p:txBody>
      </p:sp>
      <p:sp>
        <p:nvSpPr>
          <p:cNvPr id="9" name="Shape 6"/>
          <p:cNvSpPr/>
          <p:nvPr/>
        </p:nvSpPr>
        <p:spPr>
          <a:xfrm>
            <a:off x="3403515" y="1767483"/>
            <a:ext cx="2539936" cy="2310705"/>
          </a:xfrm>
          <a:prstGeom prst="roundRect">
            <a:avLst>
              <a:gd name="adj" fmla="val 9233"/>
            </a:avLst>
          </a:prstGeom>
          <a:solidFill>
            <a:srgbClr val="FFFFFF"/>
          </a:solidFill>
          <a:ln w="25399">
            <a:solidFill>
              <a:srgbClr val="CBCFC0"/>
            </a:solidFill>
            <a:prstDash val="solid"/>
          </a:ln>
          <a:effectLst>
            <a:outerShdw blurRad="227330" dist="74930" dir="5400000" algn="bl" rotWithShape="0">
              <a:srgbClr val="083C35">
                <a:alpha val="10000"/>
              </a:srgbClr>
            </a:outerShdw>
          </a:effectLst>
        </p:spPr>
      </p:sp>
      <p:pic>
        <p:nvPicPr>
          <p:cNvPr id="10" name="Image 1" descr="preencoded.png"/>
          <p:cNvPicPr>
            <a:picLocks noChangeAspect="1"/>
          </p:cNvPicPr>
          <p:nvPr/>
        </p:nvPicPr>
        <p:blipFill>
          <a:blip r:embed="rId4"/>
          <a:stretch>
            <a:fillRect/>
          </a:stretch>
        </p:blipFill>
        <p:spPr>
          <a:xfrm>
            <a:off x="3632109" y="2021483"/>
            <a:ext cx="431789" cy="431800"/>
          </a:xfrm>
          <a:prstGeom prst="rect">
            <a:avLst/>
          </a:prstGeom>
        </p:spPr>
      </p:pic>
      <p:sp>
        <p:nvSpPr>
          <p:cNvPr id="11" name="Text 7"/>
          <p:cNvSpPr/>
          <p:nvPr/>
        </p:nvSpPr>
        <p:spPr>
          <a:xfrm>
            <a:off x="3632109" y="2612795"/>
            <a:ext cx="2082748" cy="301724"/>
          </a:xfrm>
          <a:prstGeom prst="rect">
            <a:avLst/>
          </a:prstGeom>
          <a:noFill/>
          <a:ln/>
        </p:spPr>
        <p:txBody>
          <a:bodyPr wrap="none" lIns="0" tIns="0" rIns="0" bIns="0" rtlCol="0" anchor="t"/>
          <a:lstStyle/>
          <a:p>
            <a:pPr marL="0" indent="0" algn="l">
              <a:lnSpc>
                <a:spcPct val="110000"/>
              </a:lnSpc>
              <a:buNone/>
            </a:pPr>
            <a:r>
              <a:rPr lang="en-US" sz="1800" dirty="0">
                <a:solidFill>
                  <a:srgbClr val="10201D"/>
                </a:solidFill>
                <a:latin typeface="IBM Plex Sans" pitchFamily="34" charset="0"/>
                <a:ea typeface="IBM Plex Sans" pitchFamily="34" charset="-122"/>
                <a:cs typeface="IBM Plex Sans" pitchFamily="34" charset="-120"/>
              </a:rPr>
              <a:t>Family</a:t>
            </a:r>
            <a:endParaRPr lang="en-US" sz="1800" dirty="0"/>
          </a:p>
        </p:txBody>
      </p:sp>
      <p:sp>
        <p:nvSpPr>
          <p:cNvPr id="12" name="Text 8"/>
          <p:cNvSpPr/>
          <p:nvPr/>
        </p:nvSpPr>
        <p:spPr>
          <a:xfrm>
            <a:off x="3632109" y="3093716"/>
            <a:ext cx="2082748" cy="735806"/>
          </a:xfrm>
          <a:prstGeom prst="rect">
            <a:avLst/>
          </a:prstGeom>
          <a:noFill/>
          <a:ln/>
        </p:spPr>
        <p:txBody>
          <a:bodyPr wrap="square" lIns="0" tIns="0" rIns="0" bIns="0" rtlCol="0" anchor="t">
            <a:normAutofit/>
          </a:bodyPr>
          <a:lstStyle/>
          <a:p>
            <a:pPr marL="0" indent="0" algn="l">
              <a:lnSpc>
                <a:spcPct val="115000"/>
              </a:lnSpc>
              <a:buNone/>
            </a:pPr>
            <a:r>
              <a:rPr lang="en-US" sz="1400" dirty="0">
                <a:solidFill>
                  <a:srgbClr val="10201D"/>
                </a:solidFill>
                <a:latin typeface="IBM Plex Sans" pitchFamily="34" charset="0"/>
                <a:ea typeface="IBM Plex Sans" pitchFamily="34" charset="-122"/>
                <a:cs typeface="IBM Plex Sans" pitchFamily="34" charset="-120"/>
              </a:rPr>
              <a:t>Stays informed and reassured through real-time notifications.</a:t>
            </a:r>
            <a:endParaRPr lang="en-US" sz="1400" dirty="0"/>
          </a:p>
        </p:txBody>
      </p:sp>
      <p:sp>
        <p:nvSpPr>
          <p:cNvPr id="13" name="Shape 9"/>
          <p:cNvSpPr/>
          <p:nvPr/>
        </p:nvSpPr>
        <p:spPr>
          <a:xfrm>
            <a:off x="6248244" y="1767483"/>
            <a:ext cx="2539936" cy="2310705"/>
          </a:xfrm>
          <a:prstGeom prst="roundRect">
            <a:avLst>
              <a:gd name="adj" fmla="val 9233"/>
            </a:avLst>
          </a:prstGeom>
          <a:solidFill>
            <a:srgbClr val="FFFFFF"/>
          </a:solidFill>
          <a:ln w="25399">
            <a:solidFill>
              <a:srgbClr val="CBCFC0"/>
            </a:solidFill>
            <a:prstDash val="solid"/>
          </a:ln>
          <a:effectLst>
            <a:outerShdw blurRad="227330" dist="74930" dir="5400000" algn="bl" rotWithShape="0">
              <a:srgbClr val="083C35">
                <a:alpha val="10000"/>
              </a:srgbClr>
            </a:outerShdw>
          </a:effectLst>
        </p:spPr>
      </p:sp>
      <p:pic>
        <p:nvPicPr>
          <p:cNvPr id="14" name="Image 2" descr="preencoded.png"/>
          <p:cNvPicPr>
            <a:picLocks noChangeAspect="1"/>
          </p:cNvPicPr>
          <p:nvPr/>
        </p:nvPicPr>
        <p:blipFill>
          <a:blip r:embed="rId5"/>
          <a:stretch>
            <a:fillRect/>
          </a:stretch>
        </p:blipFill>
        <p:spPr>
          <a:xfrm>
            <a:off x="6476838" y="2021483"/>
            <a:ext cx="431789" cy="431800"/>
          </a:xfrm>
          <a:prstGeom prst="rect">
            <a:avLst/>
          </a:prstGeom>
        </p:spPr>
      </p:pic>
      <p:sp>
        <p:nvSpPr>
          <p:cNvPr id="15" name="Text 10"/>
          <p:cNvSpPr/>
          <p:nvPr/>
        </p:nvSpPr>
        <p:spPr>
          <a:xfrm>
            <a:off x="6476838" y="2612795"/>
            <a:ext cx="2082748" cy="301724"/>
          </a:xfrm>
          <a:prstGeom prst="rect">
            <a:avLst/>
          </a:prstGeom>
          <a:noFill/>
          <a:ln/>
        </p:spPr>
        <p:txBody>
          <a:bodyPr wrap="none" lIns="0" tIns="0" rIns="0" bIns="0" rtlCol="0" anchor="t"/>
          <a:lstStyle/>
          <a:p>
            <a:pPr marL="0" indent="0" algn="l">
              <a:lnSpc>
                <a:spcPct val="110000"/>
              </a:lnSpc>
              <a:buNone/>
            </a:pPr>
            <a:r>
              <a:rPr lang="en-US" sz="1800" dirty="0">
                <a:solidFill>
                  <a:srgbClr val="10201D"/>
                </a:solidFill>
                <a:latin typeface="IBM Plex Sans" pitchFamily="34" charset="0"/>
                <a:ea typeface="IBM Plex Sans" pitchFamily="34" charset="-122"/>
                <a:cs typeface="IBM Plex Sans" pitchFamily="34" charset="-120"/>
              </a:rPr>
              <a:t>Volunteer</a:t>
            </a:r>
            <a:endParaRPr lang="en-US" sz="1800" dirty="0"/>
          </a:p>
        </p:txBody>
      </p:sp>
      <p:sp>
        <p:nvSpPr>
          <p:cNvPr id="16" name="Text 11"/>
          <p:cNvSpPr/>
          <p:nvPr/>
        </p:nvSpPr>
        <p:spPr>
          <a:xfrm>
            <a:off x="6476838" y="3093716"/>
            <a:ext cx="2082748" cy="735806"/>
          </a:xfrm>
          <a:prstGeom prst="rect">
            <a:avLst/>
          </a:prstGeom>
          <a:noFill/>
          <a:ln/>
        </p:spPr>
        <p:txBody>
          <a:bodyPr wrap="square" lIns="0" tIns="0" rIns="0" bIns="0" rtlCol="0" anchor="t">
            <a:normAutofit/>
          </a:bodyPr>
          <a:lstStyle/>
          <a:p>
            <a:pPr marL="0" indent="0" algn="l">
              <a:lnSpc>
                <a:spcPct val="115000"/>
              </a:lnSpc>
              <a:buNone/>
            </a:pPr>
            <a:r>
              <a:rPr lang="en-US" sz="1400" dirty="0">
                <a:solidFill>
                  <a:srgbClr val="10201D"/>
                </a:solidFill>
                <a:latin typeface="IBM Plex Sans" pitchFamily="34" charset="0"/>
                <a:ea typeface="IBM Plex Sans" pitchFamily="34" charset="-122"/>
                <a:cs typeface="IBM Plex Sans" pitchFamily="34" charset="-120"/>
              </a:rPr>
              <a:t>Accepts nearby requests matched by proximity and availability.</a:t>
            </a:r>
            <a:endParaRPr lang="en-US" sz="1400" dirty="0"/>
          </a:p>
        </p:txBody>
      </p:sp>
      <p:sp>
        <p:nvSpPr>
          <p:cNvPr id="17" name="Shape 12"/>
          <p:cNvSpPr/>
          <p:nvPr/>
        </p:nvSpPr>
        <p:spPr>
          <a:xfrm>
            <a:off x="9092973" y="1767483"/>
            <a:ext cx="2539936" cy="2310705"/>
          </a:xfrm>
          <a:prstGeom prst="roundRect">
            <a:avLst>
              <a:gd name="adj" fmla="val 9233"/>
            </a:avLst>
          </a:prstGeom>
          <a:solidFill>
            <a:srgbClr val="FFFFFF"/>
          </a:solidFill>
          <a:ln w="25399">
            <a:solidFill>
              <a:srgbClr val="CBCFC0"/>
            </a:solidFill>
            <a:prstDash val="solid"/>
          </a:ln>
          <a:effectLst>
            <a:outerShdw blurRad="227330" dist="74930" dir="5400000" algn="bl" rotWithShape="0">
              <a:srgbClr val="083C35">
                <a:alpha val="10000"/>
              </a:srgbClr>
            </a:outerShdw>
          </a:effectLst>
        </p:spPr>
      </p:sp>
      <p:pic>
        <p:nvPicPr>
          <p:cNvPr id="18" name="Image 3" descr="preencoded.png"/>
          <p:cNvPicPr>
            <a:picLocks noChangeAspect="1"/>
          </p:cNvPicPr>
          <p:nvPr/>
        </p:nvPicPr>
        <p:blipFill>
          <a:blip r:embed="rId6"/>
          <a:stretch>
            <a:fillRect/>
          </a:stretch>
        </p:blipFill>
        <p:spPr>
          <a:xfrm>
            <a:off x="9321567" y="2021483"/>
            <a:ext cx="431789" cy="431800"/>
          </a:xfrm>
          <a:prstGeom prst="rect">
            <a:avLst/>
          </a:prstGeom>
        </p:spPr>
      </p:pic>
      <p:sp>
        <p:nvSpPr>
          <p:cNvPr id="19" name="Text 13"/>
          <p:cNvSpPr/>
          <p:nvPr/>
        </p:nvSpPr>
        <p:spPr>
          <a:xfrm>
            <a:off x="9321567" y="2612795"/>
            <a:ext cx="2082748" cy="301724"/>
          </a:xfrm>
          <a:prstGeom prst="rect">
            <a:avLst/>
          </a:prstGeom>
          <a:noFill/>
          <a:ln/>
        </p:spPr>
        <p:txBody>
          <a:bodyPr wrap="none" lIns="0" tIns="0" rIns="0" bIns="0" rtlCol="0" anchor="t"/>
          <a:lstStyle/>
          <a:p>
            <a:pPr marL="0" indent="0" algn="l">
              <a:lnSpc>
                <a:spcPct val="110000"/>
              </a:lnSpc>
              <a:buNone/>
            </a:pPr>
            <a:r>
              <a:rPr lang="en-US" sz="1800" dirty="0">
                <a:solidFill>
                  <a:srgbClr val="10201D"/>
                </a:solidFill>
                <a:latin typeface="IBM Plex Sans" pitchFamily="34" charset="0"/>
                <a:ea typeface="IBM Plex Sans" pitchFamily="34" charset="-122"/>
                <a:cs typeface="IBM Plex Sans" pitchFamily="34" charset="-120"/>
              </a:rPr>
              <a:t>Admin</a:t>
            </a:r>
            <a:endParaRPr lang="en-US" sz="1800" dirty="0"/>
          </a:p>
        </p:txBody>
      </p:sp>
      <p:sp>
        <p:nvSpPr>
          <p:cNvPr id="20" name="Text 14"/>
          <p:cNvSpPr/>
          <p:nvPr/>
        </p:nvSpPr>
        <p:spPr>
          <a:xfrm>
            <a:off x="9321567" y="3093716"/>
            <a:ext cx="2082748" cy="735806"/>
          </a:xfrm>
          <a:prstGeom prst="rect">
            <a:avLst/>
          </a:prstGeom>
          <a:noFill/>
          <a:ln/>
        </p:spPr>
        <p:txBody>
          <a:bodyPr wrap="square" lIns="0" tIns="0" rIns="0" bIns="0" rtlCol="0" anchor="t">
            <a:normAutofit/>
          </a:bodyPr>
          <a:lstStyle/>
          <a:p>
            <a:pPr marL="0" indent="0" algn="l">
              <a:lnSpc>
                <a:spcPct val="115000"/>
              </a:lnSpc>
              <a:buNone/>
            </a:pPr>
            <a:r>
              <a:rPr lang="en-US" sz="1400" dirty="0">
                <a:solidFill>
                  <a:srgbClr val="10201D"/>
                </a:solidFill>
                <a:latin typeface="IBM Plex Sans" pitchFamily="34" charset="0"/>
                <a:ea typeface="IBM Plex Sans" pitchFamily="34" charset="-122"/>
                <a:cs typeface="IBM Plex Sans" pitchFamily="34" charset="-120"/>
              </a:rPr>
              <a:t>Verifies people, validates government IDs, and monitors platform quality.</a:t>
            </a:r>
            <a:endParaRPr lang="en-US" sz="1400" dirty="0"/>
          </a:p>
        </p:txBody>
      </p:sp>
      <p:sp>
        <p:nvSpPr>
          <p:cNvPr id="21" name="Shape 15"/>
          <p:cNvSpPr/>
          <p:nvPr/>
        </p:nvSpPr>
        <p:spPr>
          <a:xfrm>
            <a:off x="558786" y="5937052"/>
            <a:ext cx="11074123" cy="463748"/>
          </a:xfrm>
          <a:prstGeom prst="roundRect">
            <a:avLst>
              <a:gd name="adj" fmla="val 46007"/>
            </a:avLst>
          </a:prstGeom>
          <a:solidFill>
            <a:srgbClr val="F2F4ED"/>
          </a:solidFill>
          <a:ln w="12700">
            <a:solidFill>
              <a:srgbClr val="CBD4CE"/>
            </a:solidFill>
            <a:prstDash val="solid"/>
          </a:ln>
          <a:effectLst>
            <a:outerShdw blurRad="227330" dist="74930" dir="5400000" algn="bl" rotWithShape="0">
              <a:srgbClr val="083C35">
                <a:alpha val="10000"/>
              </a:srgbClr>
            </a:outerShdw>
          </a:effectLst>
        </p:spPr>
      </p:sp>
      <p:sp>
        <p:nvSpPr>
          <p:cNvPr id="22" name="Text 16"/>
          <p:cNvSpPr/>
          <p:nvPr/>
        </p:nvSpPr>
        <p:spPr>
          <a:xfrm>
            <a:off x="774681" y="6083038"/>
            <a:ext cx="10858228" cy="184348"/>
          </a:xfrm>
          <a:prstGeom prst="rect">
            <a:avLst/>
          </a:prstGeom>
          <a:noFill/>
          <a:ln/>
        </p:spPr>
        <p:txBody>
          <a:bodyPr wrap="none" lIns="0" tIns="0" rIns="0" bIns="0" rtlCol="0" anchor="t"/>
          <a:lstStyle/>
          <a:p>
            <a:pPr marL="0" indent="0" algn="l">
              <a:lnSpc>
                <a:spcPct val="110000"/>
              </a:lnSpc>
              <a:buNone/>
            </a:pPr>
            <a:r>
              <a:rPr lang="en-US" sz="1100" dirty="0">
                <a:solidFill>
                  <a:srgbClr val="000000"/>
                </a:solidFill>
                <a:latin typeface="IBM Plex Sans" pitchFamily="34" charset="0"/>
                <a:ea typeface="IBM Plex Sans" pitchFamily="34" charset="-122"/>
                <a:cs typeface="IBM Plex Sans" pitchFamily="34" charset="-120"/>
              </a:rPr>
              <a:t>Each role possesses isolated access scopes, unified in real time to coordinate assistance transparently.</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58786" y="511175"/>
            <a:ext cx="11074123" cy="38100"/>
          </a:xfrm>
          <a:prstGeom prst="roundRect">
            <a:avLst>
              <a:gd name="adj" fmla="val 49999"/>
            </a:avLst>
          </a:prstGeom>
          <a:solidFill>
            <a:srgbClr val="083C35"/>
          </a:solidFill>
          <a:ln/>
        </p:spPr>
      </p:sp>
      <p:sp>
        <p:nvSpPr>
          <p:cNvPr id="3" name="Text 1"/>
          <p:cNvSpPr/>
          <p:nvPr/>
        </p:nvSpPr>
        <p:spPr>
          <a:xfrm>
            <a:off x="558786" y="840930"/>
            <a:ext cx="11632909" cy="173137"/>
          </a:xfrm>
          <a:prstGeom prst="rect">
            <a:avLst/>
          </a:prstGeom>
          <a:noFill/>
          <a:ln/>
        </p:spPr>
        <p:txBody>
          <a:bodyPr wrap="none" lIns="0" tIns="0" rIns="0" bIns="0" rtlCol="0" anchor="t"/>
          <a:lstStyle/>
          <a:p>
            <a:pPr marL="0" indent="0" algn="l">
              <a:lnSpc>
                <a:spcPct val="103000"/>
              </a:lnSpc>
              <a:buNone/>
            </a:pPr>
            <a:r>
              <a:rPr lang="en-US" sz="1100" kern="100" spc="60" dirty="0">
                <a:solidFill>
                  <a:srgbClr val="0A7C78"/>
                </a:solidFill>
                <a:latin typeface="IBM Plex Sans SemiBold" pitchFamily="34" charset="0"/>
                <a:ea typeface="IBM Plex Sans SemiBold" pitchFamily="34" charset="-122"/>
                <a:cs typeface="IBM Plex Sans SemiBold" pitchFamily="34" charset="-120"/>
              </a:rPr>
              <a:t>WORKFLOW DESIGN</a:t>
            </a:r>
            <a:endParaRPr lang="en-US" sz="1100" dirty="0"/>
          </a:p>
        </p:txBody>
      </p:sp>
      <p:sp>
        <p:nvSpPr>
          <p:cNvPr id="4" name="Text 2"/>
          <p:cNvSpPr/>
          <p:nvPr/>
        </p:nvSpPr>
        <p:spPr>
          <a:xfrm>
            <a:off x="558786" y="1139797"/>
            <a:ext cx="11074123" cy="915392"/>
          </a:xfrm>
          <a:prstGeom prst="rect">
            <a:avLst/>
          </a:prstGeom>
          <a:noFill/>
          <a:ln/>
        </p:spPr>
        <p:txBody>
          <a:bodyPr wrap="square" lIns="0" tIns="0" rIns="0" bIns="0" rtlCol="0" anchor="t">
            <a:normAutofit lnSpcReduction="10000"/>
          </a:bodyPr>
          <a:lstStyle/>
          <a:p>
            <a:pPr marL="0" indent="0" algn="l">
              <a:lnSpc>
                <a:spcPct val="88000"/>
              </a:lnSpc>
              <a:buNone/>
            </a:pPr>
            <a:r>
              <a:rPr lang="en-US" sz="3400" b="1" kern="100" spc="-68" dirty="0">
                <a:solidFill>
                  <a:srgbClr val="10201D"/>
                </a:solidFill>
                <a:latin typeface="Sora Bold" pitchFamily="34" charset="0"/>
                <a:ea typeface="Sora Bold" pitchFamily="34" charset="-122"/>
                <a:cs typeface="Sora Bold" pitchFamily="34" charset="-120"/>
              </a:rPr>
              <a:t>One tap for help. Verified volunteers. Visits proven by a code.</a:t>
            </a:r>
            <a:endParaRPr lang="en-US" sz="3400" dirty="0"/>
          </a:p>
        </p:txBody>
      </p:sp>
      <p:sp>
        <p:nvSpPr>
          <p:cNvPr id="5" name="Shape 3"/>
          <p:cNvSpPr/>
          <p:nvPr/>
        </p:nvSpPr>
        <p:spPr>
          <a:xfrm>
            <a:off x="558786" y="2225179"/>
            <a:ext cx="2539936" cy="2155031"/>
          </a:xfrm>
          <a:prstGeom prst="roundRect">
            <a:avLst>
              <a:gd name="adj" fmla="val 9900"/>
            </a:avLst>
          </a:prstGeom>
          <a:solidFill>
            <a:srgbClr val="FFFFFF"/>
          </a:solidFill>
          <a:ln w="12700">
            <a:solidFill>
              <a:srgbClr val="CBD4CE"/>
            </a:solidFill>
            <a:prstDash val="solid"/>
          </a:ln>
          <a:effectLst>
            <a:outerShdw blurRad="227330" dist="74930" dir="5400000" algn="bl" rotWithShape="0">
              <a:srgbClr val="083C35">
                <a:alpha val="10000"/>
              </a:srgbClr>
            </a:outerShdw>
          </a:effectLst>
        </p:spPr>
      </p:sp>
      <p:sp>
        <p:nvSpPr>
          <p:cNvPr id="6" name="Text 4"/>
          <p:cNvSpPr/>
          <p:nvPr/>
        </p:nvSpPr>
        <p:spPr>
          <a:xfrm>
            <a:off x="774681" y="2466479"/>
            <a:ext cx="868738" cy="215900"/>
          </a:xfrm>
          <a:prstGeom prst="rect">
            <a:avLst/>
          </a:prstGeom>
          <a:noFill/>
          <a:ln/>
        </p:spPr>
        <p:txBody>
          <a:bodyPr wrap="none" lIns="0" tIns="0" rIns="0" bIns="0" rtlCol="0" anchor="t"/>
          <a:lstStyle/>
          <a:p>
            <a:pPr marL="0" indent="0" algn="l">
              <a:lnSpc>
                <a:spcPct val="83000"/>
              </a:lnSpc>
              <a:buNone/>
            </a:pPr>
            <a:r>
              <a:rPr lang="en-US" sz="1700" dirty="0">
                <a:solidFill>
                  <a:srgbClr val="10201D"/>
                </a:solidFill>
                <a:latin typeface="IBM Plex Sans SemiBold" pitchFamily="34" charset="0"/>
                <a:ea typeface="IBM Plex Sans SemiBold" pitchFamily="34" charset="-122"/>
                <a:cs typeface="IBM Plex Sans SemiBold" pitchFamily="34" charset="-120"/>
              </a:rPr>
              <a:t>01</a:t>
            </a:r>
            <a:endParaRPr lang="en-US" sz="1700" dirty="0"/>
          </a:p>
        </p:txBody>
      </p:sp>
      <p:sp>
        <p:nvSpPr>
          <p:cNvPr id="7" name="Shape 5"/>
          <p:cNvSpPr/>
          <p:nvPr/>
        </p:nvSpPr>
        <p:spPr>
          <a:xfrm>
            <a:off x="774681" y="2768699"/>
            <a:ext cx="2108048" cy="19050"/>
          </a:xfrm>
          <a:prstGeom prst="rect">
            <a:avLst/>
          </a:prstGeom>
          <a:solidFill>
            <a:srgbClr val="083C35"/>
          </a:solidFill>
          <a:ln/>
        </p:spPr>
      </p:sp>
      <p:sp>
        <p:nvSpPr>
          <p:cNvPr id="8" name="Text 6"/>
          <p:cNvSpPr/>
          <p:nvPr/>
        </p:nvSpPr>
        <p:spPr>
          <a:xfrm>
            <a:off x="774681" y="2927517"/>
            <a:ext cx="2108147" cy="301724"/>
          </a:xfrm>
          <a:prstGeom prst="rect">
            <a:avLst/>
          </a:prstGeom>
          <a:noFill/>
          <a:ln/>
        </p:spPr>
        <p:txBody>
          <a:bodyPr wrap="none" lIns="0" tIns="0" rIns="0" bIns="0" rtlCol="0" anchor="t"/>
          <a:lstStyle/>
          <a:p>
            <a:pPr marL="0" indent="0" algn="l">
              <a:lnSpc>
                <a:spcPct val="110000"/>
              </a:lnSpc>
              <a:buNone/>
            </a:pPr>
            <a:r>
              <a:rPr lang="en-US" sz="1800" dirty="0">
                <a:solidFill>
                  <a:srgbClr val="10201D"/>
                </a:solidFill>
                <a:latin typeface="IBM Plex Sans" pitchFamily="34" charset="0"/>
                <a:ea typeface="IBM Plex Sans" pitchFamily="34" charset="-122"/>
                <a:cs typeface="IBM Plex Sans" pitchFamily="34" charset="-120"/>
              </a:rPr>
              <a:t>Request</a:t>
            </a:r>
            <a:endParaRPr lang="en-US" sz="1800" dirty="0"/>
          </a:p>
        </p:txBody>
      </p:sp>
      <p:sp>
        <p:nvSpPr>
          <p:cNvPr id="9" name="Text 7"/>
          <p:cNvSpPr/>
          <p:nvPr/>
        </p:nvSpPr>
        <p:spPr>
          <a:xfrm>
            <a:off x="774681" y="3408438"/>
            <a:ext cx="2108147" cy="735806"/>
          </a:xfrm>
          <a:prstGeom prst="rect">
            <a:avLst/>
          </a:prstGeom>
          <a:noFill/>
          <a:ln/>
        </p:spPr>
        <p:txBody>
          <a:bodyPr wrap="square" lIns="0" tIns="0" rIns="0" bIns="0" rtlCol="0" anchor="t">
            <a:normAutofit/>
          </a:bodyPr>
          <a:lstStyle/>
          <a:p>
            <a:pPr marL="0" indent="0" algn="l">
              <a:lnSpc>
                <a:spcPct val="115000"/>
              </a:lnSpc>
              <a:buNone/>
            </a:pPr>
            <a:r>
              <a:rPr lang="en-US" sz="1400" dirty="0">
                <a:solidFill>
                  <a:srgbClr val="10201D"/>
                </a:solidFill>
                <a:latin typeface="IBM Plex Sans" pitchFamily="34" charset="0"/>
                <a:ea typeface="IBM Plex Sans" pitchFamily="34" charset="-122"/>
                <a:cs typeface="IBM Plex Sans" pitchFamily="34" charset="-120"/>
              </a:rPr>
              <a:t>Senior triggers task with 1 tap or automated voice input.</a:t>
            </a:r>
            <a:endParaRPr lang="en-US" sz="1400" dirty="0"/>
          </a:p>
        </p:txBody>
      </p:sp>
      <p:sp>
        <p:nvSpPr>
          <p:cNvPr id="10" name="Shape 8"/>
          <p:cNvSpPr/>
          <p:nvPr/>
        </p:nvSpPr>
        <p:spPr>
          <a:xfrm>
            <a:off x="3403515" y="2225179"/>
            <a:ext cx="2539936" cy="2155031"/>
          </a:xfrm>
          <a:prstGeom prst="roundRect">
            <a:avLst>
              <a:gd name="adj" fmla="val 9900"/>
            </a:avLst>
          </a:prstGeom>
          <a:solidFill>
            <a:srgbClr val="FFFFFF"/>
          </a:solidFill>
          <a:ln w="12700">
            <a:solidFill>
              <a:srgbClr val="CBD4CE"/>
            </a:solidFill>
            <a:prstDash val="solid"/>
          </a:ln>
          <a:effectLst>
            <a:outerShdw blurRad="227330" dist="74930" dir="5400000" algn="bl" rotWithShape="0">
              <a:srgbClr val="083C35">
                <a:alpha val="10000"/>
              </a:srgbClr>
            </a:outerShdw>
          </a:effectLst>
        </p:spPr>
      </p:sp>
      <p:sp>
        <p:nvSpPr>
          <p:cNvPr id="11" name="Text 9"/>
          <p:cNvSpPr/>
          <p:nvPr/>
        </p:nvSpPr>
        <p:spPr>
          <a:xfrm>
            <a:off x="3619409" y="2466479"/>
            <a:ext cx="868738" cy="215900"/>
          </a:xfrm>
          <a:prstGeom prst="rect">
            <a:avLst/>
          </a:prstGeom>
          <a:noFill/>
          <a:ln/>
        </p:spPr>
        <p:txBody>
          <a:bodyPr wrap="none" lIns="0" tIns="0" rIns="0" bIns="0" rtlCol="0" anchor="t"/>
          <a:lstStyle/>
          <a:p>
            <a:pPr marL="0" indent="0" algn="l">
              <a:lnSpc>
                <a:spcPct val="83000"/>
              </a:lnSpc>
              <a:buNone/>
            </a:pPr>
            <a:r>
              <a:rPr lang="en-US" sz="1700" dirty="0">
                <a:solidFill>
                  <a:srgbClr val="10201D"/>
                </a:solidFill>
                <a:latin typeface="IBM Plex Sans SemiBold" pitchFamily="34" charset="0"/>
                <a:ea typeface="IBM Plex Sans SemiBold" pitchFamily="34" charset="-122"/>
                <a:cs typeface="IBM Plex Sans SemiBold" pitchFamily="34" charset="-120"/>
              </a:rPr>
              <a:t>02</a:t>
            </a:r>
            <a:endParaRPr lang="en-US" sz="1700" dirty="0"/>
          </a:p>
        </p:txBody>
      </p:sp>
      <p:sp>
        <p:nvSpPr>
          <p:cNvPr id="12" name="Shape 10"/>
          <p:cNvSpPr/>
          <p:nvPr/>
        </p:nvSpPr>
        <p:spPr>
          <a:xfrm>
            <a:off x="3619409" y="2768699"/>
            <a:ext cx="2108048" cy="19050"/>
          </a:xfrm>
          <a:prstGeom prst="rect">
            <a:avLst/>
          </a:prstGeom>
          <a:solidFill>
            <a:srgbClr val="083C35"/>
          </a:solidFill>
          <a:ln/>
        </p:spPr>
      </p:sp>
      <p:sp>
        <p:nvSpPr>
          <p:cNvPr id="13" name="Text 11"/>
          <p:cNvSpPr/>
          <p:nvPr/>
        </p:nvSpPr>
        <p:spPr>
          <a:xfrm>
            <a:off x="3619409" y="2927517"/>
            <a:ext cx="2108147" cy="301724"/>
          </a:xfrm>
          <a:prstGeom prst="rect">
            <a:avLst/>
          </a:prstGeom>
          <a:noFill/>
          <a:ln/>
        </p:spPr>
        <p:txBody>
          <a:bodyPr wrap="none" lIns="0" tIns="0" rIns="0" bIns="0" rtlCol="0" anchor="t"/>
          <a:lstStyle/>
          <a:p>
            <a:pPr marL="0" indent="0" algn="l">
              <a:lnSpc>
                <a:spcPct val="110000"/>
              </a:lnSpc>
              <a:buNone/>
            </a:pPr>
            <a:r>
              <a:rPr lang="en-US" sz="1800" dirty="0">
                <a:solidFill>
                  <a:srgbClr val="10201D"/>
                </a:solidFill>
                <a:latin typeface="IBM Plex Sans" pitchFamily="34" charset="0"/>
                <a:ea typeface="IBM Plex Sans" pitchFamily="34" charset="-122"/>
                <a:cs typeface="IBM Plex Sans" pitchFamily="34" charset="-120"/>
              </a:rPr>
              <a:t>Match</a:t>
            </a:r>
            <a:endParaRPr lang="en-US" sz="1800" dirty="0"/>
          </a:p>
        </p:txBody>
      </p:sp>
      <p:sp>
        <p:nvSpPr>
          <p:cNvPr id="14" name="Text 12"/>
          <p:cNvSpPr/>
          <p:nvPr/>
        </p:nvSpPr>
        <p:spPr>
          <a:xfrm>
            <a:off x="3619409" y="3408438"/>
            <a:ext cx="2108147" cy="735806"/>
          </a:xfrm>
          <a:prstGeom prst="rect">
            <a:avLst/>
          </a:prstGeom>
          <a:noFill/>
          <a:ln/>
        </p:spPr>
        <p:txBody>
          <a:bodyPr wrap="square" lIns="0" tIns="0" rIns="0" bIns="0" rtlCol="0" anchor="t">
            <a:normAutofit/>
          </a:bodyPr>
          <a:lstStyle/>
          <a:p>
            <a:pPr marL="0" indent="0" algn="l">
              <a:lnSpc>
                <a:spcPct val="115000"/>
              </a:lnSpc>
              <a:buNone/>
            </a:pPr>
            <a:r>
              <a:rPr lang="en-US" sz="1400" dirty="0">
                <a:solidFill>
                  <a:srgbClr val="10201D"/>
                </a:solidFill>
                <a:latin typeface="IBM Plex Sans" pitchFamily="34" charset="0"/>
                <a:ea typeface="IBM Plex Sans" pitchFamily="34" charset="-122"/>
                <a:cs typeface="IBM Plex Sans" pitchFamily="34" charset="-120"/>
              </a:rPr>
              <a:t>Algorithm computes scores across proximity, skills, and ratings.</a:t>
            </a:r>
            <a:endParaRPr lang="en-US" sz="1400" dirty="0"/>
          </a:p>
        </p:txBody>
      </p:sp>
      <p:sp>
        <p:nvSpPr>
          <p:cNvPr id="15" name="Shape 13"/>
          <p:cNvSpPr/>
          <p:nvPr/>
        </p:nvSpPr>
        <p:spPr>
          <a:xfrm>
            <a:off x="6248244" y="2225179"/>
            <a:ext cx="2539936" cy="2155031"/>
          </a:xfrm>
          <a:prstGeom prst="roundRect">
            <a:avLst>
              <a:gd name="adj" fmla="val 9900"/>
            </a:avLst>
          </a:prstGeom>
          <a:solidFill>
            <a:srgbClr val="FFFFFF"/>
          </a:solidFill>
          <a:ln w="12700">
            <a:solidFill>
              <a:srgbClr val="CBD4CE"/>
            </a:solidFill>
            <a:prstDash val="solid"/>
          </a:ln>
          <a:effectLst>
            <a:outerShdw blurRad="227330" dist="74930" dir="5400000" algn="bl" rotWithShape="0">
              <a:srgbClr val="083C35">
                <a:alpha val="10000"/>
              </a:srgbClr>
            </a:outerShdw>
          </a:effectLst>
        </p:spPr>
      </p:sp>
      <p:sp>
        <p:nvSpPr>
          <p:cNvPr id="16" name="Text 14"/>
          <p:cNvSpPr/>
          <p:nvPr/>
        </p:nvSpPr>
        <p:spPr>
          <a:xfrm>
            <a:off x="6464138" y="2466479"/>
            <a:ext cx="868738" cy="215900"/>
          </a:xfrm>
          <a:prstGeom prst="rect">
            <a:avLst/>
          </a:prstGeom>
          <a:noFill/>
          <a:ln/>
        </p:spPr>
        <p:txBody>
          <a:bodyPr wrap="none" lIns="0" tIns="0" rIns="0" bIns="0" rtlCol="0" anchor="t"/>
          <a:lstStyle/>
          <a:p>
            <a:pPr marL="0" indent="0" algn="l">
              <a:lnSpc>
                <a:spcPct val="83000"/>
              </a:lnSpc>
              <a:buNone/>
            </a:pPr>
            <a:r>
              <a:rPr lang="en-US" sz="1700" dirty="0">
                <a:solidFill>
                  <a:srgbClr val="10201D"/>
                </a:solidFill>
                <a:latin typeface="IBM Plex Sans SemiBold" pitchFamily="34" charset="0"/>
                <a:ea typeface="IBM Plex Sans SemiBold" pitchFamily="34" charset="-122"/>
                <a:cs typeface="IBM Plex Sans SemiBold" pitchFamily="34" charset="-120"/>
              </a:rPr>
              <a:t>03</a:t>
            </a:r>
            <a:endParaRPr lang="en-US" sz="1700" dirty="0"/>
          </a:p>
        </p:txBody>
      </p:sp>
      <p:sp>
        <p:nvSpPr>
          <p:cNvPr id="17" name="Shape 15"/>
          <p:cNvSpPr/>
          <p:nvPr/>
        </p:nvSpPr>
        <p:spPr>
          <a:xfrm>
            <a:off x="6464138" y="2768699"/>
            <a:ext cx="2108048" cy="19050"/>
          </a:xfrm>
          <a:prstGeom prst="rect">
            <a:avLst/>
          </a:prstGeom>
          <a:solidFill>
            <a:srgbClr val="083C35"/>
          </a:solidFill>
          <a:ln/>
        </p:spPr>
      </p:sp>
      <p:sp>
        <p:nvSpPr>
          <p:cNvPr id="18" name="Text 16"/>
          <p:cNvSpPr/>
          <p:nvPr/>
        </p:nvSpPr>
        <p:spPr>
          <a:xfrm>
            <a:off x="6464138" y="2927517"/>
            <a:ext cx="2108147" cy="301724"/>
          </a:xfrm>
          <a:prstGeom prst="rect">
            <a:avLst/>
          </a:prstGeom>
          <a:noFill/>
          <a:ln/>
        </p:spPr>
        <p:txBody>
          <a:bodyPr wrap="none" lIns="0" tIns="0" rIns="0" bIns="0" rtlCol="0" anchor="t"/>
          <a:lstStyle/>
          <a:p>
            <a:pPr marL="0" indent="0" algn="l">
              <a:lnSpc>
                <a:spcPct val="110000"/>
              </a:lnSpc>
              <a:buNone/>
            </a:pPr>
            <a:r>
              <a:rPr lang="en-US" sz="1800" dirty="0">
                <a:solidFill>
                  <a:srgbClr val="10201D"/>
                </a:solidFill>
                <a:latin typeface="IBM Plex Sans" pitchFamily="34" charset="0"/>
                <a:ea typeface="IBM Plex Sans" pitchFamily="34" charset="-122"/>
                <a:cs typeface="IBM Plex Sans" pitchFamily="34" charset="-120"/>
              </a:rPr>
              <a:t>Accept</a:t>
            </a:r>
            <a:endParaRPr lang="en-US" sz="1800" dirty="0"/>
          </a:p>
        </p:txBody>
      </p:sp>
      <p:sp>
        <p:nvSpPr>
          <p:cNvPr id="19" name="Text 17"/>
          <p:cNvSpPr/>
          <p:nvPr/>
        </p:nvSpPr>
        <p:spPr>
          <a:xfrm>
            <a:off x="6464138" y="3408438"/>
            <a:ext cx="2108147" cy="735806"/>
          </a:xfrm>
          <a:prstGeom prst="rect">
            <a:avLst/>
          </a:prstGeom>
          <a:noFill/>
          <a:ln/>
        </p:spPr>
        <p:txBody>
          <a:bodyPr wrap="square" lIns="0" tIns="0" rIns="0" bIns="0" rtlCol="0" anchor="t">
            <a:normAutofit/>
          </a:bodyPr>
          <a:lstStyle/>
          <a:p>
            <a:pPr marL="0" indent="0" algn="l">
              <a:lnSpc>
                <a:spcPct val="115000"/>
              </a:lnSpc>
              <a:buNone/>
            </a:pPr>
            <a:r>
              <a:rPr lang="en-US" sz="1400" dirty="0">
                <a:solidFill>
                  <a:srgbClr val="10201D"/>
                </a:solidFill>
                <a:latin typeface="IBM Plex Sans" pitchFamily="34" charset="0"/>
                <a:ea typeface="IBM Plex Sans" pitchFamily="34" charset="-122"/>
                <a:cs typeface="IBM Plex Sans" pitchFamily="34" charset="-120"/>
              </a:rPr>
              <a:t>Vetted volunteer accepts dispatch; private details unlock.</a:t>
            </a:r>
            <a:endParaRPr lang="en-US" sz="1400" dirty="0"/>
          </a:p>
        </p:txBody>
      </p:sp>
      <p:sp>
        <p:nvSpPr>
          <p:cNvPr id="20" name="Shape 18"/>
          <p:cNvSpPr/>
          <p:nvPr/>
        </p:nvSpPr>
        <p:spPr>
          <a:xfrm>
            <a:off x="9092973" y="2225179"/>
            <a:ext cx="2539936" cy="2155031"/>
          </a:xfrm>
          <a:prstGeom prst="roundRect">
            <a:avLst>
              <a:gd name="adj" fmla="val 9900"/>
            </a:avLst>
          </a:prstGeom>
          <a:solidFill>
            <a:srgbClr val="FFFFFF"/>
          </a:solidFill>
          <a:ln w="12700">
            <a:solidFill>
              <a:srgbClr val="CBD4CE"/>
            </a:solidFill>
            <a:prstDash val="solid"/>
          </a:ln>
          <a:effectLst>
            <a:outerShdw blurRad="227330" dist="74930" dir="5400000" algn="bl" rotWithShape="0">
              <a:srgbClr val="083C35">
                <a:alpha val="10000"/>
              </a:srgbClr>
            </a:outerShdw>
          </a:effectLst>
        </p:spPr>
      </p:sp>
      <p:sp>
        <p:nvSpPr>
          <p:cNvPr id="21" name="Text 19"/>
          <p:cNvSpPr/>
          <p:nvPr/>
        </p:nvSpPr>
        <p:spPr>
          <a:xfrm>
            <a:off x="9308867" y="2466479"/>
            <a:ext cx="868738" cy="215900"/>
          </a:xfrm>
          <a:prstGeom prst="rect">
            <a:avLst/>
          </a:prstGeom>
          <a:noFill/>
          <a:ln/>
        </p:spPr>
        <p:txBody>
          <a:bodyPr wrap="none" lIns="0" tIns="0" rIns="0" bIns="0" rtlCol="0" anchor="t"/>
          <a:lstStyle/>
          <a:p>
            <a:pPr marL="0" indent="0" algn="l">
              <a:lnSpc>
                <a:spcPct val="83000"/>
              </a:lnSpc>
              <a:buNone/>
            </a:pPr>
            <a:r>
              <a:rPr lang="en-US" sz="1700" dirty="0">
                <a:solidFill>
                  <a:srgbClr val="10201D"/>
                </a:solidFill>
                <a:latin typeface="IBM Plex Sans SemiBold" pitchFamily="34" charset="0"/>
                <a:ea typeface="IBM Plex Sans SemiBold" pitchFamily="34" charset="-122"/>
                <a:cs typeface="IBM Plex Sans SemiBold" pitchFamily="34" charset="-120"/>
              </a:rPr>
              <a:t>04</a:t>
            </a:r>
            <a:endParaRPr lang="en-US" sz="1700" dirty="0"/>
          </a:p>
        </p:txBody>
      </p:sp>
      <p:sp>
        <p:nvSpPr>
          <p:cNvPr id="22" name="Shape 20"/>
          <p:cNvSpPr/>
          <p:nvPr/>
        </p:nvSpPr>
        <p:spPr>
          <a:xfrm>
            <a:off x="9308867" y="2768699"/>
            <a:ext cx="2108048" cy="19050"/>
          </a:xfrm>
          <a:prstGeom prst="rect">
            <a:avLst/>
          </a:prstGeom>
          <a:solidFill>
            <a:srgbClr val="083C35"/>
          </a:solidFill>
          <a:ln/>
        </p:spPr>
      </p:sp>
      <p:sp>
        <p:nvSpPr>
          <p:cNvPr id="23" name="Text 21"/>
          <p:cNvSpPr/>
          <p:nvPr/>
        </p:nvSpPr>
        <p:spPr>
          <a:xfrm>
            <a:off x="9308867" y="2927517"/>
            <a:ext cx="2108147" cy="301724"/>
          </a:xfrm>
          <a:prstGeom prst="rect">
            <a:avLst/>
          </a:prstGeom>
          <a:noFill/>
          <a:ln/>
        </p:spPr>
        <p:txBody>
          <a:bodyPr wrap="none" lIns="0" tIns="0" rIns="0" bIns="0" rtlCol="0" anchor="t"/>
          <a:lstStyle/>
          <a:p>
            <a:pPr marL="0" indent="0" algn="l">
              <a:lnSpc>
                <a:spcPct val="110000"/>
              </a:lnSpc>
              <a:buNone/>
            </a:pPr>
            <a:r>
              <a:rPr lang="en-US" sz="1800" dirty="0">
                <a:solidFill>
                  <a:srgbClr val="10201D"/>
                </a:solidFill>
                <a:latin typeface="IBM Plex Sans" pitchFamily="34" charset="0"/>
                <a:ea typeface="IBM Plex Sans" pitchFamily="34" charset="-122"/>
                <a:cs typeface="IBM Plex Sans" pitchFamily="34" charset="-120"/>
              </a:rPr>
              <a:t>Verify &amp; Complete</a:t>
            </a:r>
            <a:endParaRPr lang="en-US" sz="1800" dirty="0"/>
          </a:p>
        </p:txBody>
      </p:sp>
      <p:sp>
        <p:nvSpPr>
          <p:cNvPr id="24" name="Text 22"/>
          <p:cNvSpPr/>
          <p:nvPr/>
        </p:nvSpPr>
        <p:spPr>
          <a:xfrm>
            <a:off x="9308867" y="3408438"/>
            <a:ext cx="2108147" cy="735806"/>
          </a:xfrm>
          <a:prstGeom prst="rect">
            <a:avLst/>
          </a:prstGeom>
          <a:noFill/>
          <a:ln/>
        </p:spPr>
        <p:txBody>
          <a:bodyPr wrap="square" lIns="0" tIns="0" rIns="0" bIns="0" rtlCol="0" anchor="t">
            <a:normAutofit/>
          </a:bodyPr>
          <a:lstStyle/>
          <a:p>
            <a:pPr marL="0" indent="0" algn="l">
              <a:lnSpc>
                <a:spcPct val="115000"/>
              </a:lnSpc>
              <a:buNone/>
            </a:pPr>
            <a:r>
              <a:rPr lang="en-US" sz="1400" dirty="0">
                <a:solidFill>
                  <a:srgbClr val="10201D"/>
                </a:solidFill>
                <a:latin typeface="IBM Plex Sans" pitchFamily="34" charset="0"/>
                <a:ea typeface="IBM Plex Sans" pitchFamily="34" charset="-122"/>
                <a:cs typeface="IBM Plex Sans" pitchFamily="34" charset="-120"/>
              </a:rPr>
              <a:t>Unique OTP on senior device confirms physical arrival and closure.</a:t>
            </a:r>
            <a:endParaRPr lang="en-US" sz="1400" dirty="0"/>
          </a:p>
        </p:txBody>
      </p:sp>
      <p:sp>
        <p:nvSpPr>
          <p:cNvPr id="25" name="Shape 23"/>
          <p:cNvSpPr/>
          <p:nvPr/>
        </p:nvSpPr>
        <p:spPr>
          <a:xfrm>
            <a:off x="558786" y="5886252"/>
            <a:ext cx="11074123" cy="514548"/>
          </a:xfrm>
          <a:prstGeom prst="roundRect">
            <a:avLst>
              <a:gd name="adj" fmla="val 41465"/>
            </a:avLst>
          </a:prstGeom>
          <a:solidFill>
            <a:srgbClr val="F2F4ED"/>
          </a:solidFill>
          <a:ln w="12700">
            <a:solidFill>
              <a:srgbClr val="CBD4CE"/>
            </a:solidFill>
            <a:prstDash val="solid"/>
          </a:ln>
          <a:effectLst>
            <a:outerShdw blurRad="227330" dist="74930" dir="5400000" algn="bl" rotWithShape="0">
              <a:srgbClr val="083C35">
                <a:alpha val="10000"/>
              </a:srgbClr>
            </a:outerShdw>
          </a:effectLst>
        </p:spPr>
      </p:sp>
      <p:sp>
        <p:nvSpPr>
          <p:cNvPr id="26" name="Text 24"/>
          <p:cNvSpPr/>
          <p:nvPr/>
        </p:nvSpPr>
        <p:spPr>
          <a:xfrm>
            <a:off x="800080" y="6057638"/>
            <a:ext cx="10832829" cy="184348"/>
          </a:xfrm>
          <a:prstGeom prst="rect">
            <a:avLst/>
          </a:prstGeom>
          <a:noFill/>
          <a:ln/>
        </p:spPr>
        <p:txBody>
          <a:bodyPr wrap="none" lIns="0" tIns="0" rIns="0" bIns="0" rtlCol="0" anchor="t"/>
          <a:lstStyle/>
          <a:p>
            <a:pPr marL="0" indent="0" algn="l">
              <a:lnSpc>
                <a:spcPct val="110000"/>
              </a:lnSpc>
              <a:buNone/>
            </a:pPr>
            <a:r>
              <a:rPr lang="en-US" sz="1100" dirty="0">
                <a:solidFill>
                  <a:srgbClr val="000000"/>
                </a:solidFill>
                <a:latin typeface="IBM Plex Sans" pitchFamily="34" charset="0"/>
                <a:ea typeface="IBM Plex Sans" pitchFamily="34" charset="-122"/>
                <a:cs typeface="IBM Plex Sans" pitchFamily="34" charset="-120"/>
              </a:rPr>
              <a:t>Security Guarantee: Service completion is cryptographically gated by the senior-held OTP, preventing phantom or unverified check-ins.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558786" y="511175"/>
            <a:ext cx="11074123" cy="38100"/>
          </a:xfrm>
          <a:prstGeom prst="roundRect">
            <a:avLst>
              <a:gd name="adj" fmla="val 49999"/>
            </a:avLst>
          </a:prstGeom>
          <a:solidFill>
            <a:srgbClr val="083C35"/>
          </a:solidFill>
          <a:ln/>
        </p:spPr>
      </p:sp>
      <p:sp>
        <p:nvSpPr>
          <p:cNvPr id="3" name="Text 1"/>
          <p:cNvSpPr/>
          <p:nvPr/>
        </p:nvSpPr>
        <p:spPr>
          <a:xfrm>
            <a:off x="558786" y="790130"/>
            <a:ext cx="11632909" cy="173137"/>
          </a:xfrm>
          <a:prstGeom prst="rect">
            <a:avLst/>
          </a:prstGeom>
          <a:noFill/>
          <a:ln/>
        </p:spPr>
        <p:txBody>
          <a:bodyPr wrap="none" lIns="0" tIns="0" rIns="0" bIns="0" rtlCol="0" anchor="t"/>
          <a:lstStyle/>
          <a:p>
            <a:pPr marL="0" indent="0" algn="l">
              <a:lnSpc>
                <a:spcPct val="103000"/>
              </a:lnSpc>
              <a:buNone/>
            </a:pPr>
            <a:r>
              <a:rPr lang="en-US" sz="1100" kern="100" spc="60" dirty="0">
                <a:solidFill>
                  <a:srgbClr val="0A7C78"/>
                </a:solidFill>
                <a:latin typeface="IBM Plex Sans SemiBold" pitchFamily="34" charset="0"/>
                <a:ea typeface="IBM Plex Sans SemiBold" pitchFamily="34" charset="-122"/>
                <a:cs typeface="IBM Plex Sans SemiBold" pitchFamily="34" charset="-120"/>
              </a:rPr>
              <a:t>LIVE INTERFACE EXPERIENCE</a:t>
            </a:r>
            <a:endParaRPr lang="en-US" sz="1100" dirty="0"/>
          </a:p>
        </p:txBody>
      </p:sp>
      <p:sp>
        <p:nvSpPr>
          <p:cNvPr id="4" name="Text 2"/>
          <p:cNvSpPr/>
          <p:nvPr/>
        </p:nvSpPr>
        <p:spPr>
          <a:xfrm>
            <a:off x="558786" y="1088997"/>
            <a:ext cx="11074123" cy="457696"/>
          </a:xfrm>
          <a:prstGeom prst="rect">
            <a:avLst/>
          </a:prstGeom>
          <a:noFill/>
          <a:ln/>
        </p:spPr>
        <p:txBody>
          <a:bodyPr wrap="none" lIns="0" tIns="0" rIns="0" bIns="0" rtlCol="0" anchor="t"/>
          <a:lstStyle/>
          <a:p>
            <a:pPr marL="0" indent="0" algn="l">
              <a:lnSpc>
                <a:spcPct val="88000"/>
              </a:lnSpc>
              <a:buNone/>
            </a:pPr>
            <a:r>
              <a:rPr lang="en-US" sz="3400" b="1" kern="100" spc="-68" dirty="0">
                <a:solidFill>
                  <a:srgbClr val="10201D"/>
                </a:solidFill>
                <a:latin typeface="Sora Bold" pitchFamily="34" charset="0"/>
                <a:ea typeface="Sora Bold" pitchFamily="34" charset="-122"/>
                <a:cs typeface="Sora Bold" pitchFamily="34" charset="-120"/>
              </a:rPr>
              <a:t>From request to volunteer in seconds</a:t>
            </a:r>
            <a:endParaRPr lang="en-US" sz="3400" dirty="0"/>
          </a:p>
        </p:txBody>
      </p:sp>
      <p:pic>
        <p:nvPicPr>
          <p:cNvPr id="5" name="Image 0" descr="preencoded.png"/>
          <p:cNvPicPr>
            <a:picLocks noChangeAspect="1"/>
          </p:cNvPicPr>
          <p:nvPr/>
        </p:nvPicPr>
        <p:blipFill>
          <a:blip r:embed="rId3"/>
          <a:stretch>
            <a:fillRect/>
          </a:stretch>
        </p:blipFill>
        <p:spPr>
          <a:xfrm>
            <a:off x="558786" y="2177951"/>
            <a:ext cx="4986808" cy="3111401"/>
          </a:xfrm>
          <a:prstGeom prst="rect">
            <a:avLst/>
          </a:prstGeom>
        </p:spPr>
      </p:pic>
      <p:pic>
        <p:nvPicPr>
          <p:cNvPr id="6" name="Image 1" descr="preencoded.png"/>
          <p:cNvPicPr>
            <a:picLocks noChangeAspect="1"/>
          </p:cNvPicPr>
          <p:nvPr/>
        </p:nvPicPr>
        <p:blipFill>
          <a:blip r:embed="rId4"/>
          <a:stretch>
            <a:fillRect/>
          </a:stretch>
        </p:blipFill>
        <p:spPr>
          <a:xfrm>
            <a:off x="6324442" y="2177951"/>
            <a:ext cx="4980557" cy="311140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58786" y="511175"/>
            <a:ext cx="11074123" cy="38100"/>
          </a:xfrm>
          <a:prstGeom prst="roundRect">
            <a:avLst>
              <a:gd name="adj" fmla="val 49999"/>
            </a:avLst>
          </a:prstGeom>
          <a:solidFill>
            <a:srgbClr val="083C35"/>
          </a:solidFill>
          <a:ln/>
        </p:spPr>
      </p:sp>
      <p:sp>
        <p:nvSpPr>
          <p:cNvPr id="3" name="Text 1"/>
          <p:cNvSpPr/>
          <p:nvPr/>
        </p:nvSpPr>
        <p:spPr>
          <a:xfrm>
            <a:off x="558786" y="815530"/>
            <a:ext cx="11632909" cy="173137"/>
          </a:xfrm>
          <a:prstGeom prst="rect">
            <a:avLst/>
          </a:prstGeom>
          <a:noFill/>
          <a:ln/>
        </p:spPr>
        <p:txBody>
          <a:bodyPr wrap="none" lIns="0" tIns="0" rIns="0" bIns="0" rtlCol="0" anchor="t"/>
          <a:lstStyle/>
          <a:p>
            <a:pPr marL="0" indent="0" algn="l">
              <a:lnSpc>
                <a:spcPct val="103000"/>
              </a:lnSpc>
              <a:buNone/>
            </a:pPr>
            <a:r>
              <a:rPr lang="en-US" sz="1100" kern="100" spc="60" dirty="0">
                <a:solidFill>
                  <a:srgbClr val="0A7C78"/>
                </a:solidFill>
                <a:latin typeface="IBM Plex Sans SemiBold" pitchFamily="34" charset="0"/>
                <a:ea typeface="IBM Plex Sans SemiBold" pitchFamily="34" charset="-122"/>
                <a:cs typeface="IBM Plex Sans SemiBold" pitchFamily="34" charset="-120"/>
              </a:rPr>
              <a:t>DISPATCH LOGIC</a:t>
            </a:r>
            <a:endParaRPr lang="en-US" sz="1100" dirty="0"/>
          </a:p>
        </p:txBody>
      </p:sp>
      <p:sp>
        <p:nvSpPr>
          <p:cNvPr id="4" name="Text 2"/>
          <p:cNvSpPr/>
          <p:nvPr/>
        </p:nvSpPr>
        <p:spPr>
          <a:xfrm>
            <a:off x="558786" y="1114397"/>
            <a:ext cx="11074123" cy="457696"/>
          </a:xfrm>
          <a:prstGeom prst="rect">
            <a:avLst/>
          </a:prstGeom>
          <a:noFill/>
          <a:ln/>
        </p:spPr>
        <p:txBody>
          <a:bodyPr wrap="none" lIns="0" tIns="0" rIns="0" bIns="0" rtlCol="0" anchor="t"/>
          <a:lstStyle/>
          <a:p>
            <a:pPr marL="0" indent="0" algn="l">
              <a:lnSpc>
                <a:spcPct val="88000"/>
              </a:lnSpc>
              <a:buNone/>
            </a:pPr>
            <a:r>
              <a:rPr lang="en-US" sz="3400" b="1" kern="100" spc="-68" dirty="0">
                <a:solidFill>
                  <a:srgbClr val="10201D"/>
                </a:solidFill>
                <a:latin typeface="Sora Bold" pitchFamily="34" charset="0"/>
                <a:ea typeface="Sora Bold" pitchFamily="34" charset="-122"/>
                <a:cs typeface="Sora Bold" pitchFamily="34" charset="-120"/>
              </a:rPr>
              <a:t>Matching that explains itself</a:t>
            </a:r>
            <a:endParaRPr lang="en-US" sz="3400" dirty="0"/>
          </a:p>
        </p:txBody>
      </p:sp>
      <p:pic>
        <p:nvPicPr>
          <p:cNvPr id="5" name="Image 0" descr="preencoded.png"/>
          <p:cNvPicPr>
            <a:picLocks noChangeAspect="1"/>
          </p:cNvPicPr>
          <p:nvPr/>
        </p:nvPicPr>
        <p:blipFill>
          <a:blip r:embed="rId3"/>
          <a:stretch>
            <a:fillRect/>
          </a:stretch>
        </p:blipFill>
        <p:spPr>
          <a:xfrm>
            <a:off x="558786" y="1691283"/>
            <a:ext cx="11074123" cy="635000"/>
          </a:xfrm>
          <a:prstGeom prst="rect">
            <a:avLst/>
          </a:prstGeom>
        </p:spPr>
      </p:pic>
      <p:sp>
        <p:nvSpPr>
          <p:cNvPr id="6" name="Shape 3"/>
          <p:cNvSpPr/>
          <p:nvPr/>
        </p:nvSpPr>
        <p:spPr>
          <a:xfrm>
            <a:off x="558786" y="2453283"/>
            <a:ext cx="6461559" cy="2533551"/>
          </a:xfrm>
          <a:prstGeom prst="roundRect">
            <a:avLst>
              <a:gd name="adj" fmla="val 3579"/>
            </a:avLst>
          </a:prstGeom>
          <a:solidFill>
            <a:srgbClr val="FFFFFF"/>
          </a:solidFill>
          <a:ln w="25399">
            <a:solidFill>
              <a:srgbClr val="CBCFC0"/>
            </a:solidFill>
            <a:prstDash val="solid"/>
          </a:ln>
        </p:spPr>
      </p:sp>
      <p:sp>
        <p:nvSpPr>
          <p:cNvPr id="7" name="Text 4"/>
          <p:cNvSpPr/>
          <p:nvPr/>
        </p:nvSpPr>
        <p:spPr>
          <a:xfrm>
            <a:off x="838179" y="2692170"/>
            <a:ext cx="5902773" cy="301724"/>
          </a:xfrm>
          <a:prstGeom prst="rect">
            <a:avLst/>
          </a:prstGeom>
          <a:noFill/>
          <a:ln/>
        </p:spPr>
        <p:txBody>
          <a:bodyPr wrap="none" lIns="0" tIns="0" rIns="0" bIns="0" rtlCol="0" anchor="t"/>
          <a:lstStyle/>
          <a:p>
            <a:pPr marL="0" indent="0" algn="l">
              <a:lnSpc>
                <a:spcPct val="110000"/>
              </a:lnSpc>
              <a:buNone/>
            </a:pPr>
            <a:r>
              <a:rPr lang="en-US" sz="1800" dirty="0">
                <a:solidFill>
                  <a:srgbClr val="10201D"/>
                </a:solidFill>
                <a:latin typeface="IBM Plex Sans" pitchFamily="34" charset="0"/>
                <a:ea typeface="IBM Plex Sans" pitchFamily="34" charset="-122"/>
                <a:cs typeface="IBM Plex Sans" pitchFamily="34" charset="-120"/>
              </a:rPr>
              <a:t>Explainable by design</a:t>
            </a:r>
            <a:endParaRPr lang="en-US" sz="1800" dirty="0"/>
          </a:p>
        </p:txBody>
      </p:sp>
      <p:sp>
        <p:nvSpPr>
          <p:cNvPr id="8" name="Text 5"/>
          <p:cNvSpPr/>
          <p:nvPr/>
        </p:nvSpPr>
        <p:spPr>
          <a:xfrm>
            <a:off x="838179" y="3174234"/>
            <a:ext cx="6182166" cy="297855"/>
          </a:xfrm>
          <a:prstGeom prst="rect">
            <a:avLst/>
          </a:prstGeom>
          <a:noFill/>
          <a:ln/>
        </p:spPr>
        <p:txBody>
          <a:bodyPr wrap="none" lIns="0" tIns="0" rIns="0" bIns="0" rtlCol="0" anchor="t"/>
          <a:lstStyle/>
          <a:p>
            <a:pPr marL="0" indent="0" algn="l">
              <a:lnSpc>
                <a:spcPct val="115000"/>
              </a:lnSpc>
              <a:buNone/>
            </a:pPr>
            <a:r>
              <a:rPr lang="en-US" sz="1700" dirty="0">
                <a:solidFill>
                  <a:srgbClr val="10201D"/>
                </a:solidFill>
                <a:latin typeface="IBM Plex Sans" pitchFamily="34" charset="0"/>
                <a:ea typeface="IBM Plex Sans" pitchFamily="34" charset="-122"/>
                <a:cs typeface="IBM Plex Sans" pitchFamily="34" charset="-120"/>
              </a:rPr>
              <a:t>Every score shows its reason.</a:t>
            </a:r>
            <a:endParaRPr lang="en-US" sz="1700" dirty="0"/>
          </a:p>
        </p:txBody>
      </p:sp>
      <p:sp>
        <p:nvSpPr>
          <p:cNvPr id="9" name="Shape 6"/>
          <p:cNvSpPr/>
          <p:nvPr/>
        </p:nvSpPr>
        <p:spPr>
          <a:xfrm>
            <a:off x="7325038" y="2453283"/>
            <a:ext cx="4307871" cy="2533551"/>
          </a:xfrm>
          <a:prstGeom prst="roundRect">
            <a:avLst>
              <a:gd name="adj" fmla="val 3579"/>
            </a:avLst>
          </a:prstGeom>
          <a:solidFill>
            <a:srgbClr val="F2F4ED"/>
          </a:solidFill>
          <a:ln w="25399">
            <a:solidFill>
              <a:srgbClr val="CBCFC0"/>
            </a:solidFill>
            <a:prstDash val="solid"/>
          </a:ln>
        </p:spPr>
      </p:sp>
      <p:sp>
        <p:nvSpPr>
          <p:cNvPr id="10" name="Text 7"/>
          <p:cNvSpPr/>
          <p:nvPr/>
        </p:nvSpPr>
        <p:spPr>
          <a:xfrm>
            <a:off x="7604431" y="2690963"/>
            <a:ext cx="4028478" cy="173137"/>
          </a:xfrm>
          <a:prstGeom prst="rect">
            <a:avLst/>
          </a:prstGeom>
          <a:noFill/>
          <a:ln/>
        </p:spPr>
        <p:txBody>
          <a:bodyPr wrap="none" lIns="0" tIns="0" rIns="0" bIns="0" rtlCol="0" anchor="t"/>
          <a:lstStyle/>
          <a:p>
            <a:pPr marL="0" indent="0" algn="l">
              <a:lnSpc>
                <a:spcPct val="103000"/>
              </a:lnSpc>
              <a:buNone/>
            </a:pPr>
            <a:r>
              <a:rPr lang="en-US" sz="1100" kern="100" spc="60" dirty="0">
                <a:solidFill>
                  <a:srgbClr val="000000"/>
                </a:solidFill>
                <a:latin typeface="IBM Plex Sans SemiBold" pitchFamily="34" charset="0"/>
                <a:ea typeface="IBM Plex Sans SemiBold" pitchFamily="34" charset="-122"/>
                <a:cs typeface="IBM Plex Sans SemiBold" pitchFamily="34" charset="-120"/>
              </a:rPr>
              <a:t>LIVE MATCH CARD</a:t>
            </a:r>
            <a:endParaRPr lang="en-US" sz="1100" dirty="0"/>
          </a:p>
        </p:txBody>
      </p:sp>
      <p:sp>
        <p:nvSpPr>
          <p:cNvPr id="11" name="Text 8"/>
          <p:cNvSpPr/>
          <p:nvPr/>
        </p:nvSpPr>
        <p:spPr>
          <a:xfrm>
            <a:off x="7604431" y="2986782"/>
            <a:ext cx="3749085" cy="355600"/>
          </a:xfrm>
          <a:prstGeom prst="rect">
            <a:avLst/>
          </a:prstGeom>
          <a:noFill/>
          <a:ln/>
        </p:spPr>
        <p:txBody>
          <a:bodyPr wrap="none" lIns="0" tIns="0" rIns="0" bIns="0" rtlCol="0" anchor="t"/>
          <a:lstStyle/>
          <a:p>
            <a:pPr marL="0" indent="0" algn="l">
              <a:lnSpc>
                <a:spcPct val="83000"/>
              </a:lnSpc>
              <a:buNone/>
            </a:pPr>
            <a:r>
              <a:rPr lang="en-US" sz="2800" b="1" kern="100" spc="-70" dirty="0">
                <a:solidFill>
                  <a:srgbClr val="000000"/>
                </a:solidFill>
                <a:latin typeface="Sora Bold" pitchFamily="34" charset="0"/>
                <a:ea typeface="Sora Bold" pitchFamily="34" charset="-122"/>
                <a:cs typeface="Sora Bold" pitchFamily="34" charset="-120"/>
              </a:rPr>
              <a:t>92% Match</a:t>
            </a:r>
            <a:endParaRPr lang="en-US" sz="2800" dirty="0"/>
          </a:p>
        </p:txBody>
      </p:sp>
      <p:sp>
        <p:nvSpPr>
          <p:cNvPr id="12" name="Text 9"/>
          <p:cNvSpPr/>
          <p:nvPr/>
        </p:nvSpPr>
        <p:spPr>
          <a:xfrm>
            <a:off x="7604431" y="3566220"/>
            <a:ext cx="3749085" cy="1192014"/>
          </a:xfrm>
          <a:prstGeom prst="rect">
            <a:avLst/>
          </a:prstGeom>
          <a:noFill/>
          <a:ln/>
        </p:spPr>
        <p:txBody>
          <a:bodyPr wrap="square" lIns="0" tIns="0" rIns="0" bIns="0" rtlCol="0" anchor="t"/>
          <a:lstStyle/>
          <a:p>
            <a:pPr marL="0" indent="0" algn="l">
              <a:lnSpc>
                <a:spcPct val="115000"/>
              </a:lnSpc>
              <a:spcAft>
                <a:spcPts val="1150"/>
              </a:spcAft>
              <a:buNone/>
            </a:pPr>
            <a:r>
              <a:rPr lang="en-US" sz="1700" b="1" dirty="0">
                <a:solidFill>
                  <a:srgbClr val="000000"/>
                </a:solidFill>
                <a:latin typeface="IBM Plex Sans Bold" pitchFamily="34" charset="0"/>
                <a:ea typeface="IBM Plex Sans Bold" pitchFamily="34" charset="-122"/>
                <a:cs typeface="IBM Plex Sans Bold" pitchFamily="34" charset="-120"/>
              </a:rPr>
              <a:t>Distance:</a:t>
            </a:r>
            <a:r>
              <a:rPr lang="en-US" sz="1700" dirty="0">
                <a:solidFill>
                  <a:srgbClr val="000000"/>
                </a:solidFill>
                <a:latin typeface="IBM Plex Sans" pitchFamily="34" charset="0"/>
                <a:ea typeface="IBM Plex Sans" pitchFamily="34" charset="-122"/>
                <a:cs typeface="IBM Plex Sans" pitchFamily="34" charset="-120"/>
              </a:rPr>
              <a:t> 1.2 km away</a:t>
            </a:r>
            <a:endParaRPr lang="en-US" sz="1700" dirty="0"/>
          </a:p>
          <a:p>
            <a:pPr marL="0" indent="0" algn="l">
              <a:lnSpc>
                <a:spcPct val="115000"/>
              </a:lnSpc>
              <a:spcAft>
                <a:spcPts val="1150"/>
              </a:spcAft>
              <a:buNone/>
            </a:pPr>
            <a:r>
              <a:rPr lang="en-US" sz="1700" b="1" dirty="0">
                <a:solidFill>
                  <a:srgbClr val="000000"/>
                </a:solidFill>
                <a:latin typeface="IBM Plex Sans Bold" pitchFamily="34" charset="0"/>
                <a:ea typeface="IBM Plex Sans Bold" pitchFamily="34" charset="-122"/>
                <a:cs typeface="IBM Plex Sans Bold" pitchFamily="34" charset="-120"/>
              </a:rPr>
              <a:t>Skill:</a:t>
            </a:r>
            <a:r>
              <a:rPr lang="en-US" sz="1700" dirty="0">
                <a:solidFill>
                  <a:srgbClr val="000000"/>
                </a:solidFill>
                <a:latin typeface="IBM Plex Sans" pitchFamily="34" charset="0"/>
                <a:ea typeface="IBM Plex Sans" pitchFamily="34" charset="-122"/>
                <a:cs typeface="IBM Plex Sans" pitchFamily="34" charset="-120"/>
              </a:rPr>
              <a:t> Medicine Pickup</a:t>
            </a:r>
            <a:endParaRPr lang="en-US" sz="1700" dirty="0"/>
          </a:p>
          <a:p>
            <a:pPr marL="0" indent="0" algn="l">
              <a:lnSpc>
                <a:spcPct val="115000"/>
              </a:lnSpc>
              <a:buNone/>
            </a:pPr>
            <a:r>
              <a:rPr lang="en-US" sz="1700" b="1" dirty="0">
                <a:solidFill>
                  <a:srgbClr val="000000"/>
                </a:solidFill>
                <a:latin typeface="IBM Plex Sans Bold" pitchFamily="34" charset="0"/>
                <a:ea typeface="IBM Plex Sans Bold" pitchFamily="34" charset="-122"/>
                <a:cs typeface="IBM Plex Sans Bold" pitchFamily="34" charset="-120"/>
              </a:rPr>
              <a:t>Rating:</a:t>
            </a:r>
            <a:r>
              <a:rPr lang="en-US" sz="1700" dirty="0">
                <a:solidFill>
                  <a:srgbClr val="000000"/>
                </a:solidFill>
                <a:latin typeface="IBM Plex Sans" pitchFamily="34" charset="0"/>
                <a:ea typeface="IBM Plex Sans" pitchFamily="34" charset="-122"/>
                <a:cs typeface="IBM Plex Sans" pitchFamily="34" charset="-120"/>
              </a:rPr>
              <a:t> 4.8</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58786" y="511175"/>
            <a:ext cx="11074123" cy="38100"/>
          </a:xfrm>
          <a:prstGeom prst="roundRect">
            <a:avLst>
              <a:gd name="adj" fmla="val 49999"/>
            </a:avLst>
          </a:prstGeom>
          <a:solidFill>
            <a:srgbClr val="083C35"/>
          </a:solidFill>
          <a:ln/>
        </p:spPr>
      </p:sp>
      <p:sp>
        <p:nvSpPr>
          <p:cNvPr id="3" name="Text 1"/>
          <p:cNvSpPr/>
          <p:nvPr/>
        </p:nvSpPr>
        <p:spPr>
          <a:xfrm>
            <a:off x="558786" y="840930"/>
            <a:ext cx="11632909" cy="173137"/>
          </a:xfrm>
          <a:prstGeom prst="rect">
            <a:avLst/>
          </a:prstGeom>
          <a:noFill/>
          <a:ln/>
        </p:spPr>
        <p:txBody>
          <a:bodyPr wrap="none" lIns="0" tIns="0" rIns="0" bIns="0" rtlCol="0" anchor="t"/>
          <a:lstStyle/>
          <a:p>
            <a:pPr marL="0" indent="0" algn="l">
              <a:lnSpc>
                <a:spcPct val="103000"/>
              </a:lnSpc>
              <a:buNone/>
            </a:pPr>
            <a:r>
              <a:rPr lang="en-US" sz="1100" kern="100" spc="60" dirty="0">
                <a:solidFill>
                  <a:srgbClr val="0A7C78"/>
                </a:solidFill>
                <a:latin typeface="IBM Plex Sans SemiBold" pitchFamily="34" charset="0"/>
                <a:ea typeface="IBM Plex Sans SemiBold" pitchFamily="34" charset="-122"/>
                <a:cs typeface="IBM Plex Sans SemiBold" pitchFamily="34" charset="-120"/>
              </a:rPr>
              <a:t>SAFETY &amp; VERIFICATION</a:t>
            </a:r>
            <a:endParaRPr lang="en-US" sz="1100" dirty="0"/>
          </a:p>
        </p:txBody>
      </p:sp>
      <p:sp>
        <p:nvSpPr>
          <p:cNvPr id="4" name="Text 2"/>
          <p:cNvSpPr/>
          <p:nvPr/>
        </p:nvSpPr>
        <p:spPr>
          <a:xfrm>
            <a:off x="558786" y="1139797"/>
            <a:ext cx="11074123" cy="457696"/>
          </a:xfrm>
          <a:prstGeom prst="rect">
            <a:avLst/>
          </a:prstGeom>
          <a:noFill/>
          <a:ln/>
        </p:spPr>
        <p:txBody>
          <a:bodyPr wrap="none" lIns="0" tIns="0" rIns="0" bIns="0" rtlCol="0" anchor="t"/>
          <a:lstStyle/>
          <a:p>
            <a:pPr marL="0" indent="0" algn="l">
              <a:lnSpc>
                <a:spcPct val="88000"/>
              </a:lnSpc>
              <a:buNone/>
            </a:pPr>
            <a:r>
              <a:rPr lang="en-US" sz="3400" b="1" kern="100" spc="-68" dirty="0">
                <a:solidFill>
                  <a:srgbClr val="10201D"/>
                </a:solidFill>
                <a:latin typeface="Sora Bold" pitchFamily="34" charset="0"/>
                <a:ea typeface="Sora Bold" pitchFamily="34" charset="-122"/>
                <a:cs typeface="Sora Bold" pitchFamily="34" charset="-120"/>
              </a:rPr>
              <a:t>Trust is built in before anyone knocks on the door</a:t>
            </a:r>
            <a:endParaRPr lang="en-US" sz="3400" dirty="0"/>
          </a:p>
        </p:txBody>
      </p:sp>
      <p:sp>
        <p:nvSpPr>
          <p:cNvPr id="5" name="Shape 3"/>
          <p:cNvSpPr/>
          <p:nvPr/>
        </p:nvSpPr>
        <p:spPr>
          <a:xfrm>
            <a:off x="558786" y="1742083"/>
            <a:ext cx="3488146" cy="2832298"/>
          </a:xfrm>
          <a:prstGeom prst="roundRect">
            <a:avLst>
              <a:gd name="adj" fmla="val 7533"/>
            </a:avLst>
          </a:prstGeom>
          <a:solidFill>
            <a:srgbClr val="FFFFFF"/>
          </a:solidFill>
          <a:ln w="12700">
            <a:solidFill>
              <a:srgbClr val="CBD4CE"/>
            </a:solidFill>
            <a:prstDash val="solid"/>
          </a:ln>
          <a:effectLst>
            <a:outerShdw blurRad="227330" dist="74930" dir="5400000" algn="bl" rotWithShape="0">
              <a:srgbClr val="083C35">
                <a:alpha val="10000"/>
              </a:srgbClr>
            </a:outerShdw>
          </a:effectLst>
        </p:spPr>
      </p:sp>
      <p:pic>
        <p:nvPicPr>
          <p:cNvPr id="6" name="Image 0" descr="preencoded.png"/>
          <p:cNvPicPr>
            <a:picLocks noChangeAspect="1"/>
          </p:cNvPicPr>
          <p:nvPr/>
        </p:nvPicPr>
        <p:blipFill>
          <a:blip r:embed="rId3"/>
          <a:stretch>
            <a:fillRect/>
          </a:stretch>
        </p:blipFill>
        <p:spPr>
          <a:xfrm>
            <a:off x="825479" y="1983383"/>
            <a:ext cx="431789" cy="431800"/>
          </a:xfrm>
          <a:prstGeom prst="rect">
            <a:avLst/>
          </a:prstGeom>
        </p:spPr>
      </p:pic>
      <p:sp>
        <p:nvSpPr>
          <p:cNvPr id="7" name="Text 4"/>
          <p:cNvSpPr/>
          <p:nvPr/>
        </p:nvSpPr>
        <p:spPr>
          <a:xfrm>
            <a:off x="825479" y="2574695"/>
            <a:ext cx="2954760" cy="301724"/>
          </a:xfrm>
          <a:prstGeom prst="rect">
            <a:avLst/>
          </a:prstGeom>
          <a:noFill/>
          <a:ln/>
        </p:spPr>
        <p:txBody>
          <a:bodyPr wrap="none" lIns="0" tIns="0" rIns="0" bIns="0" rtlCol="0" anchor="t"/>
          <a:lstStyle/>
          <a:p>
            <a:pPr marL="0" indent="0" algn="l">
              <a:lnSpc>
                <a:spcPct val="110000"/>
              </a:lnSpc>
              <a:buNone/>
            </a:pPr>
            <a:r>
              <a:rPr lang="en-US" sz="1800" dirty="0">
                <a:solidFill>
                  <a:srgbClr val="10201D"/>
                </a:solidFill>
                <a:latin typeface="IBM Plex Sans" pitchFamily="34" charset="0"/>
                <a:ea typeface="IBM Plex Sans" pitchFamily="34" charset="-122"/>
                <a:cs typeface="IBM Plex Sans" pitchFamily="34" charset="-120"/>
              </a:rPr>
              <a:t>Admin-verified volunteers</a:t>
            </a:r>
            <a:endParaRPr lang="en-US" sz="1800" dirty="0"/>
          </a:p>
        </p:txBody>
      </p:sp>
      <p:sp>
        <p:nvSpPr>
          <p:cNvPr id="8" name="Text 5"/>
          <p:cNvSpPr/>
          <p:nvPr/>
        </p:nvSpPr>
        <p:spPr>
          <a:xfrm>
            <a:off x="825479" y="3055616"/>
            <a:ext cx="2954760" cy="981075"/>
          </a:xfrm>
          <a:prstGeom prst="rect">
            <a:avLst/>
          </a:prstGeom>
          <a:noFill/>
          <a:ln/>
        </p:spPr>
        <p:txBody>
          <a:bodyPr wrap="square" lIns="0" tIns="0" rIns="0" bIns="0" rtlCol="0" anchor="t">
            <a:normAutofit/>
          </a:bodyPr>
          <a:lstStyle/>
          <a:p>
            <a:pPr marL="0" indent="0" algn="l">
              <a:lnSpc>
                <a:spcPct val="115000"/>
              </a:lnSpc>
              <a:buNone/>
            </a:pPr>
            <a:r>
              <a:rPr lang="en-US" sz="1400" dirty="0">
                <a:solidFill>
                  <a:srgbClr val="10201D"/>
                </a:solidFill>
                <a:latin typeface="IBM Plex Sans" pitchFamily="34" charset="0"/>
                <a:ea typeface="IBM Plex Sans" pitchFamily="34" charset="-122"/>
                <a:cs typeface="IBM Plex Sans" pitchFamily="34" charset="-120"/>
              </a:rPr>
              <a:t>Mandatory government photo identification checks and manual admin approval before candidate activation.</a:t>
            </a:r>
            <a:endParaRPr lang="en-US" sz="1400" dirty="0"/>
          </a:p>
        </p:txBody>
      </p:sp>
      <p:sp>
        <p:nvSpPr>
          <p:cNvPr id="9" name="Shape 6"/>
          <p:cNvSpPr/>
          <p:nvPr/>
        </p:nvSpPr>
        <p:spPr>
          <a:xfrm>
            <a:off x="4351725" y="1742083"/>
            <a:ext cx="3488146" cy="2832298"/>
          </a:xfrm>
          <a:prstGeom prst="roundRect">
            <a:avLst>
              <a:gd name="adj" fmla="val 7533"/>
            </a:avLst>
          </a:prstGeom>
          <a:solidFill>
            <a:srgbClr val="FFFFFF"/>
          </a:solidFill>
          <a:ln w="12700">
            <a:solidFill>
              <a:srgbClr val="CBD4CE"/>
            </a:solidFill>
            <a:prstDash val="solid"/>
          </a:ln>
          <a:effectLst>
            <a:outerShdw blurRad="227330" dist="74930" dir="5400000" algn="bl" rotWithShape="0">
              <a:srgbClr val="083C35">
                <a:alpha val="10000"/>
              </a:srgbClr>
            </a:outerShdw>
          </a:effectLst>
        </p:spPr>
      </p:sp>
      <p:pic>
        <p:nvPicPr>
          <p:cNvPr id="10" name="Image 1" descr="preencoded.png"/>
          <p:cNvPicPr>
            <a:picLocks noChangeAspect="1"/>
          </p:cNvPicPr>
          <p:nvPr/>
        </p:nvPicPr>
        <p:blipFill>
          <a:blip r:embed="rId4"/>
          <a:stretch>
            <a:fillRect/>
          </a:stretch>
        </p:blipFill>
        <p:spPr>
          <a:xfrm>
            <a:off x="4618418" y="1983383"/>
            <a:ext cx="431789" cy="431800"/>
          </a:xfrm>
          <a:prstGeom prst="rect">
            <a:avLst/>
          </a:prstGeom>
        </p:spPr>
      </p:pic>
      <p:sp>
        <p:nvSpPr>
          <p:cNvPr id="11" name="Text 7"/>
          <p:cNvSpPr/>
          <p:nvPr/>
        </p:nvSpPr>
        <p:spPr>
          <a:xfrm>
            <a:off x="4618418" y="2574695"/>
            <a:ext cx="2954760" cy="603448"/>
          </a:xfrm>
          <a:prstGeom prst="rect">
            <a:avLst/>
          </a:prstGeom>
          <a:noFill/>
          <a:ln/>
        </p:spPr>
        <p:txBody>
          <a:bodyPr wrap="square" lIns="0" tIns="0" rIns="0" bIns="0" rtlCol="0" anchor="t">
            <a:normAutofit/>
          </a:bodyPr>
          <a:lstStyle/>
          <a:p>
            <a:pPr marL="0" indent="0" algn="l">
              <a:lnSpc>
                <a:spcPct val="110000"/>
              </a:lnSpc>
              <a:buNone/>
            </a:pPr>
            <a:r>
              <a:rPr lang="en-US" sz="1800" dirty="0">
                <a:solidFill>
                  <a:srgbClr val="10201D"/>
                </a:solidFill>
                <a:latin typeface="IBM Plex Sans" pitchFamily="34" charset="0"/>
                <a:ea typeface="IBM Plex Sans" pitchFamily="34" charset="-122"/>
                <a:cs typeface="IBM Plex Sans" pitchFamily="34" charset="-120"/>
              </a:rPr>
              <a:t>Visit code (OTP) confirmation</a:t>
            </a:r>
            <a:endParaRPr lang="en-US" sz="1800" dirty="0"/>
          </a:p>
        </p:txBody>
      </p:sp>
      <p:sp>
        <p:nvSpPr>
          <p:cNvPr id="12" name="Text 8"/>
          <p:cNvSpPr/>
          <p:nvPr/>
        </p:nvSpPr>
        <p:spPr>
          <a:xfrm>
            <a:off x="4618418" y="3357340"/>
            <a:ext cx="2954760" cy="981075"/>
          </a:xfrm>
          <a:prstGeom prst="rect">
            <a:avLst/>
          </a:prstGeom>
          <a:noFill/>
          <a:ln/>
        </p:spPr>
        <p:txBody>
          <a:bodyPr wrap="square" lIns="0" tIns="0" rIns="0" bIns="0" rtlCol="0" anchor="t">
            <a:normAutofit/>
          </a:bodyPr>
          <a:lstStyle/>
          <a:p>
            <a:pPr marL="0" indent="0" algn="l">
              <a:lnSpc>
                <a:spcPct val="115000"/>
              </a:lnSpc>
              <a:buNone/>
            </a:pPr>
            <a:r>
              <a:rPr lang="en-US" sz="1400" dirty="0">
                <a:solidFill>
                  <a:srgbClr val="10201D"/>
                </a:solidFill>
                <a:latin typeface="IBM Plex Sans" pitchFamily="34" charset="0"/>
                <a:ea typeface="IBM Plex Sans" pitchFamily="34" charset="-122"/>
                <a:cs typeface="IBM Plex Sans" pitchFamily="34" charset="-120"/>
              </a:rPr>
              <a:t>Senior holds a dynamic OTP generated on their handset; tasks cannot complete without terminal entry.</a:t>
            </a:r>
            <a:endParaRPr lang="en-US" sz="1400" dirty="0"/>
          </a:p>
        </p:txBody>
      </p:sp>
      <p:sp>
        <p:nvSpPr>
          <p:cNvPr id="13" name="Shape 9"/>
          <p:cNvSpPr/>
          <p:nvPr/>
        </p:nvSpPr>
        <p:spPr>
          <a:xfrm>
            <a:off x="8144663" y="1742083"/>
            <a:ext cx="3488246" cy="2832298"/>
          </a:xfrm>
          <a:prstGeom prst="roundRect">
            <a:avLst>
              <a:gd name="adj" fmla="val 7533"/>
            </a:avLst>
          </a:prstGeom>
          <a:solidFill>
            <a:srgbClr val="FFFFFF"/>
          </a:solidFill>
          <a:ln w="12700">
            <a:solidFill>
              <a:srgbClr val="CBD4CE"/>
            </a:solidFill>
            <a:prstDash val="solid"/>
          </a:ln>
          <a:effectLst>
            <a:outerShdw blurRad="227330" dist="74930" dir="5400000" algn="bl" rotWithShape="0">
              <a:srgbClr val="083C35">
                <a:alpha val="10000"/>
              </a:srgbClr>
            </a:outerShdw>
          </a:effectLst>
        </p:spPr>
      </p:sp>
      <p:pic>
        <p:nvPicPr>
          <p:cNvPr id="14" name="Image 2" descr="preencoded.png"/>
          <p:cNvPicPr>
            <a:picLocks noChangeAspect="1"/>
          </p:cNvPicPr>
          <p:nvPr/>
        </p:nvPicPr>
        <p:blipFill>
          <a:blip r:embed="rId5"/>
          <a:stretch>
            <a:fillRect/>
          </a:stretch>
        </p:blipFill>
        <p:spPr>
          <a:xfrm>
            <a:off x="8411357" y="1983383"/>
            <a:ext cx="431789" cy="431800"/>
          </a:xfrm>
          <a:prstGeom prst="rect">
            <a:avLst/>
          </a:prstGeom>
        </p:spPr>
      </p:pic>
      <p:sp>
        <p:nvSpPr>
          <p:cNvPr id="15" name="Text 10"/>
          <p:cNvSpPr/>
          <p:nvPr/>
        </p:nvSpPr>
        <p:spPr>
          <a:xfrm>
            <a:off x="8411357" y="2574695"/>
            <a:ext cx="2954859" cy="301724"/>
          </a:xfrm>
          <a:prstGeom prst="rect">
            <a:avLst/>
          </a:prstGeom>
          <a:noFill/>
          <a:ln/>
        </p:spPr>
        <p:txBody>
          <a:bodyPr wrap="none" lIns="0" tIns="0" rIns="0" bIns="0" rtlCol="0" anchor="t"/>
          <a:lstStyle/>
          <a:p>
            <a:pPr marL="0" indent="0" algn="l">
              <a:lnSpc>
                <a:spcPct val="110000"/>
              </a:lnSpc>
              <a:buNone/>
            </a:pPr>
            <a:r>
              <a:rPr lang="en-US" sz="1800" dirty="0">
                <a:solidFill>
                  <a:srgbClr val="10201D"/>
                </a:solidFill>
                <a:latin typeface="IBM Plex Sans" pitchFamily="34" charset="0"/>
                <a:ea typeface="IBM Plex Sans" pitchFamily="34" charset="-122"/>
                <a:cs typeface="IBM Plex Sans" pitchFamily="34" charset="-120"/>
              </a:rPr>
              <a:t>Privacy masking</a:t>
            </a:r>
            <a:endParaRPr lang="en-US" sz="1800" dirty="0"/>
          </a:p>
        </p:txBody>
      </p:sp>
      <p:sp>
        <p:nvSpPr>
          <p:cNvPr id="16" name="Text 11"/>
          <p:cNvSpPr/>
          <p:nvPr/>
        </p:nvSpPr>
        <p:spPr>
          <a:xfrm>
            <a:off x="8411357" y="3055616"/>
            <a:ext cx="2954859" cy="981075"/>
          </a:xfrm>
          <a:prstGeom prst="rect">
            <a:avLst/>
          </a:prstGeom>
          <a:noFill/>
          <a:ln/>
        </p:spPr>
        <p:txBody>
          <a:bodyPr wrap="square" lIns="0" tIns="0" rIns="0" bIns="0" rtlCol="0" anchor="t">
            <a:normAutofit/>
          </a:bodyPr>
          <a:lstStyle/>
          <a:p>
            <a:pPr marL="0" indent="0" algn="l">
              <a:lnSpc>
                <a:spcPct val="115000"/>
              </a:lnSpc>
              <a:buNone/>
            </a:pPr>
            <a:r>
              <a:rPr lang="en-US" sz="1400" dirty="0">
                <a:solidFill>
                  <a:srgbClr val="10201D"/>
                </a:solidFill>
                <a:latin typeface="IBM Plex Sans" pitchFamily="34" charset="0"/>
                <a:ea typeface="IBM Plex Sans" pitchFamily="34" charset="-122"/>
                <a:cs typeface="IBM Plex Sans" pitchFamily="34" charset="-120"/>
              </a:rPr>
              <a:t>Street address and personal telephone details remain masked until a confirmed volunteer accepts dispatch.</a:t>
            </a:r>
            <a:endParaRPr lang="en-US" sz="1400" dirty="0"/>
          </a:p>
        </p:txBody>
      </p:sp>
      <p:sp>
        <p:nvSpPr>
          <p:cNvPr id="17" name="Shape 12"/>
          <p:cNvSpPr/>
          <p:nvPr/>
        </p:nvSpPr>
        <p:spPr>
          <a:xfrm>
            <a:off x="558786" y="5529263"/>
            <a:ext cx="11074123" cy="871538"/>
          </a:xfrm>
          <a:prstGeom prst="roundRect">
            <a:avLst>
              <a:gd name="adj" fmla="val 24480"/>
            </a:avLst>
          </a:prstGeom>
          <a:solidFill>
            <a:srgbClr val="F2F4ED"/>
          </a:solidFill>
          <a:ln w="12700">
            <a:solidFill>
              <a:srgbClr val="CBD4CE"/>
            </a:solidFill>
            <a:prstDash val="solid"/>
          </a:ln>
          <a:effectLst>
            <a:outerShdw blurRad="227330" dist="74930" dir="5400000" algn="bl" rotWithShape="0">
              <a:srgbClr val="083C35">
                <a:alpha val="10000"/>
              </a:srgbClr>
            </a:outerShdw>
          </a:effectLst>
        </p:spPr>
      </p:sp>
      <p:sp>
        <p:nvSpPr>
          <p:cNvPr id="18" name="Text 13"/>
          <p:cNvSpPr/>
          <p:nvPr/>
        </p:nvSpPr>
        <p:spPr>
          <a:xfrm>
            <a:off x="825479" y="5725097"/>
            <a:ext cx="10540736" cy="490537"/>
          </a:xfrm>
          <a:prstGeom prst="rect">
            <a:avLst/>
          </a:prstGeom>
          <a:noFill/>
          <a:ln/>
        </p:spPr>
        <p:txBody>
          <a:bodyPr wrap="square" lIns="0" tIns="0" rIns="0" bIns="0" rtlCol="0" anchor="t">
            <a:normAutofit/>
          </a:bodyPr>
          <a:lstStyle/>
          <a:p>
            <a:pPr marL="0" indent="0" algn="l">
              <a:lnSpc>
                <a:spcPct val="115000"/>
              </a:lnSpc>
              <a:buNone/>
            </a:pPr>
            <a:r>
              <a:rPr lang="en-US" sz="1400" b="1" dirty="0">
                <a:solidFill>
                  <a:srgbClr val="000000"/>
                </a:solidFill>
                <a:latin typeface="IBM Plex Sans Bold" pitchFamily="34" charset="0"/>
                <a:ea typeface="IBM Plex Sans Bold" pitchFamily="34" charset="-122"/>
                <a:cs typeface="IBM Plex Sans Bold" pitchFamily="34" charset="-120"/>
              </a:rPr>
              <a:t>Emergency Safeguard:</a:t>
            </a:r>
            <a:r>
              <a:rPr lang="en-US" sz="1400" dirty="0">
                <a:solidFill>
                  <a:srgbClr val="000000"/>
                </a:solidFill>
                <a:latin typeface="IBM Plex Sans" pitchFamily="34" charset="0"/>
                <a:ea typeface="IBM Plex Sans" pitchFamily="34" charset="-122"/>
                <a:cs typeface="IBM Plex Sans" pitchFamily="34" charset="-120"/>
              </a:rPr>
              <a:t> Live SOS alerts trigger instant geofenced broadcasts to nearby volunteers and family. For real emergencies call 112.</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558786" y="485775"/>
            <a:ext cx="11074123" cy="38100"/>
          </a:xfrm>
          <a:prstGeom prst="roundRect">
            <a:avLst>
              <a:gd name="adj" fmla="val 49999"/>
            </a:avLst>
          </a:prstGeom>
          <a:solidFill>
            <a:srgbClr val="083C35"/>
          </a:solidFill>
          <a:ln/>
        </p:spPr>
      </p:sp>
      <p:sp>
        <p:nvSpPr>
          <p:cNvPr id="3" name="Text 1"/>
          <p:cNvSpPr/>
          <p:nvPr/>
        </p:nvSpPr>
        <p:spPr>
          <a:xfrm>
            <a:off x="558786" y="764730"/>
            <a:ext cx="11632909" cy="173137"/>
          </a:xfrm>
          <a:prstGeom prst="rect">
            <a:avLst/>
          </a:prstGeom>
          <a:noFill/>
          <a:ln/>
        </p:spPr>
        <p:txBody>
          <a:bodyPr wrap="none" lIns="0" tIns="0" rIns="0" bIns="0" rtlCol="0" anchor="t"/>
          <a:lstStyle/>
          <a:p>
            <a:pPr marL="0" indent="0" algn="l">
              <a:lnSpc>
                <a:spcPct val="103000"/>
              </a:lnSpc>
              <a:buNone/>
            </a:pPr>
            <a:r>
              <a:rPr lang="en-US" sz="1100" kern="100" spc="60" dirty="0">
                <a:solidFill>
                  <a:srgbClr val="0A7C78"/>
                </a:solidFill>
                <a:latin typeface="IBM Plex Sans SemiBold" pitchFamily="34" charset="0"/>
                <a:ea typeface="IBM Plex Sans SemiBold" pitchFamily="34" charset="-122"/>
                <a:cs typeface="IBM Plex Sans SemiBold" pitchFamily="34" charset="-120"/>
              </a:rPr>
              <a:t>INCLUSION &amp; METRICS</a:t>
            </a:r>
            <a:endParaRPr lang="en-US" sz="1100" dirty="0"/>
          </a:p>
        </p:txBody>
      </p:sp>
      <p:sp>
        <p:nvSpPr>
          <p:cNvPr id="4" name="Text 2"/>
          <p:cNvSpPr/>
          <p:nvPr/>
        </p:nvSpPr>
        <p:spPr>
          <a:xfrm>
            <a:off x="558786" y="1063597"/>
            <a:ext cx="11074123" cy="457696"/>
          </a:xfrm>
          <a:prstGeom prst="rect">
            <a:avLst/>
          </a:prstGeom>
          <a:noFill/>
          <a:ln/>
        </p:spPr>
        <p:txBody>
          <a:bodyPr wrap="none" lIns="0" tIns="0" rIns="0" bIns="0" rtlCol="0" anchor="t"/>
          <a:lstStyle/>
          <a:p>
            <a:pPr marL="0" indent="0" algn="l">
              <a:lnSpc>
                <a:spcPct val="88000"/>
              </a:lnSpc>
              <a:buNone/>
            </a:pPr>
            <a:r>
              <a:rPr lang="en-US" sz="3400" b="1" kern="100" spc="-68" dirty="0">
                <a:solidFill>
                  <a:srgbClr val="10201D"/>
                </a:solidFill>
                <a:latin typeface="Sora Bold" pitchFamily="34" charset="0"/>
                <a:ea typeface="Sora Bold" pitchFamily="34" charset="-122"/>
                <a:cs typeface="Sora Bold" pitchFamily="34" charset="-120"/>
              </a:rPr>
              <a:t>Built for accessibility and measurable impact</a:t>
            </a:r>
            <a:endParaRPr lang="en-US" sz="3400" dirty="0"/>
          </a:p>
        </p:txBody>
      </p:sp>
      <p:sp>
        <p:nvSpPr>
          <p:cNvPr id="5" name="Shape 3"/>
          <p:cNvSpPr/>
          <p:nvPr/>
        </p:nvSpPr>
        <p:spPr>
          <a:xfrm>
            <a:off x="558786" y="1640483"/>
            <a:ext cx="4307772" cy="1306612"/>
          </a:xfrm>
          <a:prstGeom prst="roundRect">
            <a:avLst>
              <a:gd name="adj" fmla="val 16329"/>
            </a:avLst>
          </a:prstGeom>
          <a:solidFill>
            <a:srgbClr val="FFFFFF"/>
          </a:solidFill>
          <a:ln w="12700">
            <a:solidFill>
              <a:srgbClr val="CBD4CE"/>
            </a:solidFill>
            <a:prstDash val="solid"/>
          </a:ln>
          <a:effectLst>
            <a:outerShdw blurRad="227330" dist="74930" dir="5400000" algn="bl" rotWithShape="0">
              <a:srgbClr val="083C35">
                <a:alpha val="10000"/>
              </a:srgbClr>
            </a:outerShdw>
          </a:effectLst>
        </p:spPr>
      </p:sp>
      <p:sp>
        <p:nvSpPr>
          <p:cNvPr id="6" name="Text 4"/>
          <p:cNvSpPr/>
          <p:nvPr/>
        </p:nvSpPr>
        <p:spPr>
          <a:xfrm>
            <a:off x="774681" y="1815870"/>
            <a:ext cx="3875983" cy="301724"/>
          </a:xfrm>
          <a:prstGeom prst="rect">
            <a:avLst/>
          </a:prstGeom>
          <a:noFill/>
          <a:ln/>
        </p:spPr>
        <p:txBody>
          <a:bodyPr wrap="none" lIns="0" tIns="0" rIns="0" bIns="0" rtlCol="0" anchor="t"/>
          <a:lstStyle/>
          <a:p>
            <a:pPr marL="0" indent="0" algn="l">
              <a:lnSpc>
                <a:spcPct val="110000"/>
              </a:lnSpc>
              <a:buNone/>
            </a:pPr>
            <a:r>
              <a:rPr lang="en-US" sz="1800" dirty="0">
                <a:solidFill>
                  <a:srgbClr val="10201D"/>
                </a:solidFill>
                <a:latin typeface="IBM Plex Sans" pitchFamily="34" charset="0"/>
                <a:ea typeface="IBM Plex Sans" pitchFamily="34" charset="-122"/>
                <a:cs typeface="IBM Plex Sans" pitchFamily="34" charset="-120"/>
              </a:rPr>
              <a:t>Large text &amp; high contrast</a:t>
            </a:r>
            <a:endParaRPr lang="en-US" sz="1800" dirty="0"/>
          </a:p>
        </p:txBody>
      </p:sp>
      <p:sp>
        <p:nvSpPr>
          <p:cNvPr id="7" name="Text 5"/>
          <p:cNvSpPr/>
          <p:nvPr/>
        </p:nvSpPr>
        <p:spPr>
          <a:xfrm>
            <a:off x="774681" y="2296791"/>
            <a:ext cx="3875983" cy="490537"/>
          </a:xfrm>
          <a:prstGeom prst="rect">
            <a:avLst/>
          </a:prstGeom>
          <a:noFill/>
          <a:ln/>
        </p:spPr>
        <p:txBody>
          <a:bodyPr wrap="square" lIns="0" tIns="0" rIns="0" bIns="0" rtlCol="0" anchor="t">
            <a:normAutofit/>
          </a:bodyPr>
          <a:lstStyle/>
          <a:p>
            <a:pPr marL="0" indent="0" algn="l">
              <a:lnSpc>
                <a:spcPct val="115000"/>
              </a:lnSpc>
              <a:buNone/>
            </a:pPr>
            <a:r>
              <a:rPr lang="en-US" sz="1400" dirty="0">
                <a:solidFill>
                  <a:srgbClr val="10201D"/>
                </a:solidFill>
                <a:latin typeface="IBM Plex Sans" pitchFamily="34" charset="0"/>
                <a:ea typeface="IBM Plex Sans" pitchFamily="34" charset="-122"/>
                <a:cs typeface="IBM Plex Sans" pitchFamily="34" charset="-120"/>
              </a:rPr>
              <a:t>Tailored UI typography meeting strict WCAG AAA guidelines for low-vision users.</a:t>
            </a:r>
            <a:endParaRPr lang="en-US" sz="1400" dirty="0"/>
          </a:p>
        </p:txBody>
      </p:sp>
      <p:sp>
        <p:nvSpPr>
          <p:cNvPr id="8" name="Shape 6"/>
          <p:cNvSpPr/>
          <p:nvPr/>
        </p:nvSpPr>
        <p:spPr>
          <a:xfrm>
            <a:off x="558786" y="3099495"/>
            <a:ext cx="4307772" cy="1306612"/>
          </a:xfrm>
          <a:prstGeom prst="roundRect">
            <a:avLst>
              <a:gd name="adj" fmla="val 16329"/>
            </a:avLst>
          </a:prstGeom>
          <a:solidFill>
            <a:srgbClr val="FFFFFF"/>
          </a:solidFill>
          <a:ln w="12700">
            <a:solidFill>
              <a:srgbClr val="CBD4CE"/>
            </a:solidFill>
            <a:prstDash val="solid"/>
          </a:ln>
          <a:effectLst>
            <a:outerShdw blurRad="227330" dist="74930" dir="5400000" algn="bl" rotWithShape="0">
              <a:srgbClr val="083C35">
                <a:alpha val="10000"/>
              </a:srgbClr>
            </a:outerShdw>
          </a:effectLst>
        </p:spPr>
      </p:sp>
      <p:sp>
        <p:nvSpPr>
          <p:cNvPr id="9" name="Text 7"/>
          <p:cNvSpPr/>
          <p:nvPr/>
        </p:nvSpPr>
        <p:spPr>
          <a:xfrm>
            <a:off x="774681" y="3274882"/>
            <a:ext cx="3875983" cy="301724"/>
          </a:xfrm>
          <a:prstGeom prst="rect">
            <a:avLst/>
          </a:prstGeom>
          <a:noFill/>
          <a:ln/>
        </p:spPr>
        <p:txBody>
          <a:bodyPr wrap="none" lIns="0" tIns="0" rIns="0" bIns="0" rtlCol="0" anchor="t"/>
          <a:lstStyle/>
          <a:p>
            <a:pPr marL="0" indent="0" algn="l">
              <a:lnSpc>
                <a:spcPct val="110000"/>
              </a:lnSpc>
              <a:buNone/>
            </a:pPr>
            <a:r>
              <a:rPr lang="en-US" sz="1800" dirty="0">
                <a:solidFill>
                  <a:srgbClr val="10201D"/>
                </a:solidFill>
                <a:latin typeface="IBM Plex Sans" pitchFamily="34" charset="0"/>
                <a:ea typeface="IBM Plex Sans" pitchFamily="34" charset="-122"/>
                <a:cs typeface="IBM Plex Sans" pitchFamily="34" charset="-120"/>
              </a:rPr>
              <a:t>English, Telugu, Hindi</a:t>
            </a:r>
            <a:endParaRPr lang="en-US" sz="1800" dirty="0"/>
          </a:p>
        </p:txBody>
      </p:sp>
      <p:sp>
        <p:nvSpPr>
          <p:cNvPr id="10" name="Text 8"/>
          <p:cNvSpPr/>
          <p:nvPr/>
        </p:nvSpPr>
        <p:spPr>
          <a:xfrm>
            <a:off x="774681" y="3755803"/>
            <a:ext cx="3875983" cy="490537"/>
          </a:xfrm>
          <a:prstGeom prst="rect">
            <a:avLst/>
          </a:prstGeom>
          <a:noFill/>
          <a:ln/>
        </p:spPr>
        <p:txBody>
          <a:bodyPr wrap="square" lIns="0" tIns="0" rIns="0" bIns="0" rtlCol="0" anchor="t">
            <a:normAutofit/>
          </a:bodyPr>
          <a:lstStyle/>
          <a:p>
            <a:pPr marL="0" indent="0" algn="l">
              <a:lnSpc>
                <a:spcPct val="115000"/>
              </a:lnSpc>
              <a:buNone/>
            </a:pPr>
            <a:r>
              <a:rPr lang="en-US" sz="1400" dirty="0">
                <a:solidFill>
                  <a:srgbClr val="10201D"/>
                </a:solidFill>
                <a:latin typeface="IBM Plex Sans" pitchFamily="34" charset="0"/>
                <a:ea typeface="IBM Plex Sans" pitchFamily="34" charset="-122"/>
                <a:cs typeface="IBM Plex Sans" pitchFamily="34" charset="-120"/>
              </a:rPr>
              <a:t>Full regional language localization enabling seamless cross-demographic adoption.</a:t>
            </a:r>
            <a:endParaRPr lang="en-US" sz="1400" dirty="0"/>
          </a:p>
        </p:txBody>
      </p:sp>
      <p:sp>
        <p:nvSpPr>
          <p:cNvPr id="11" name="Shape 9"/>
          <p:cNvSpPr/>
          <p:nvPr/>
        </p:nvSpPr>
        <p:spPr>
          <a:xfrm>
            <a:off x="558786" y="4558506"/>
            <a:ext cx="4307772" cy="1306612"/>
          </a:xfrm>
          <a:prstGeom prst="roundRect">
            <a:avLst>
              <a:gd name="adj" fmla="val 16329"/>
            </a:avLst>
          </a:prstGeom>
          <a:solidFill>
            <a:srgbClr val="FFFFFF"/>
          </a:solidFill>
          <a:ln w="12700">
            <a:solidFill>
              <a:srgbClr val="CBD4CE"/>
            </a:solidFill>
            <a:prstDash val="solid"/>
          </a:ln>
          <a:effectLst>
            <a:outerShdw blurRad="227330" dist="74930" dir="5400000" algn="bl" rotWithShape="0">
              <a:srgbClr val="083C35">
                <a:alpha val="10000"/>
              </a:srgbClr>
            </a:outerShdw>
          </a:effectLst>
        </p:spPr>
      </p:sp>
      <p:sp>
        <p:nvSpPr>
          <p:cNvPr id="12" name="Text 10"/>
          <p:cNvSpPr/>
          <p:nvPr/>
        </p:nvSpPr>
        <p:spPr>
          <a:xfrm>
            <a:off x="774681" y="4733893"/>
            <a:ext cx="3875983" cy="301724"/>
          </a:xfrm>
          <a:prstGeom prst="rect">
            <a:avLst/>
          </a:prstGeom>
          <a:noFill/>
          <a:ln/>
        </p:spPr>
        <p:txBody>
          <a:bodyPr wrap="none" lIns="0" tIns="0" rIns="0" bIns="0" rtlCol="0" anchor="t"/>
          <a:lstStyle/>
          <a:p>
            <a:pPr marL="0" indent="0" algn="l">
              <a:lnSpc>
                <a:spcPct val="110000"/>
              </a:lnSpc>
              <a:buNone/>
            </a:pPr>
            <a:r>
              <a:rPr lang="en-US" sz="1800" dirty="0">
                <a:solidFill>
                  <a:srgbClr val="10201D"/>
                </a:solidFill>
                <a:latin typeface="IBM Plex Sans" pitchFamily="34" charset="0"/>
                <a:ea typeface="IBM Plex Sans" pitchFamily="34" charset="-122"/>
                <a:cs typeface="IBM Plex Sans" pitchFamily="34" charset="-120"/>
              </a:rPr>
              <a:t>3-tap simple flow</a:t>
            </a:r>
            <a:endParaRPr lang="en-US" sz="1800" dirty="0"/>
          </a:p>
        </p:txBody>
      </p:sp>
      <p:sp>
        <p:nvSpPr>
          <p:cNvPr id="13" name="Text 11"/>
          <p:cNvSpPr/>
          <p:nvPr/>
        </p:nvSpPr>
        <p:spPr>
          <a:xfrm>
            <a:off x="774681" y="5214814"/>
            <a:ext cx="3875983" cy="490537"/>
          </a:xfrm>
          <a:prstGeom prst="rect">
            <a:avLst/>
          </a:prstGeom>
          <a:noFill/>
          <a:ln/>
        </p:spPr>
        <p:txBody>
          <a:bodyPr wrap="square" lIns="0" tIns="0" rIns="0" bIns="0" rtlCol="0" anchor="t">
            <a:normAutofit/>
          </a:bodyPr>
          <a:lstStyle/>
          <a:p>
            <a:pPr marL="0" indent="0" algn="l">
              <a:lnSpc>
                <a:spcPct val="115000"/>
              </a:lnSpc>
              <a:buNone/>
            </a:pPr>
            <a:r>
              <a:rPr lang="en-US" sz="1400" dirty="0">
                <a:solidFill>
                  <a:srgbClr val="10201D"/>
                </a:solidFill>
                <a:latin typeface="IBM Plex Sans" pitchFamily="34" charset="0"/>
                <a:ea typeface="IBM Plex Sans" pitchFamily="34" charset="-122"/>
                <a:cs typeface="IBM Plex Sans" pitchFamily="34" charset="-120"/>
              </a:rPr>
              <a:t>Zero navigation clutter; task creation requires at most three simple screen taps.</a:t>
            </a:r>
            <a:endParaRPr lang="en-US" sz="1400" dirty="0"/>
          </a:p>
        </p:txBody>
      </p:sp>
      <p:sp>
        <p:nvSpPr>
          <p:cNvPr id="14" name="Shape 12"/>
          <p:cNvSpPr/>
          <p:nvPr/>
        </p:nvSpPr>
        <p:spPr>
          <a:xfrm>
            <a:off x="5171251" y="1640483"/>
            <a:ext cx="6461658" cy="4708128"/>
          </a:xfrm>
          <a:prstGeom prst="roundRect">
            <a:avLst>
              <a:gd name="adj" fmla="val 4532"/>
            </a:avLst>
          </a:prstGeom>
          <a:solidFill>
            <a:srgbClr val="FFFFFF"/>
          </a:solidFill>
          <a:ln w="12700">
            <a:solidFill>
              <a:srgbClr val="CBD4CE"/>
            </a:solidFill>
            <a:prstDash val="solid"/>
          </a:ln>
          <a:effectLst>
            <a:outerShdw blurRad="227330" dist="74930" dir="5400000" algn="bl" rotWithShape="0">
              <a:srgbClr val="083C35">
                <a:alpha val="10000"/>
              </a:srgbClr>
            </a:outerShdw>
          </a:effectLst>
        </p:spPr>
      </p:sp>
      <p:pic>
        <p:nvPicPr>
          <p:cNvPr id="15" name="Image 0" descr="preencoded.png"/>
          <p:cNvPicPr>
            <a:picLocks noChangeAspect="1"/>
          </p:cNvPicPr>
          <p:nvPr/>
        </p:nvPicPr>
        <p:blipFill>
          <a:blip r:embed="rId3"/>
          <a:stretch>
            <a:fillRect/>
          </a:stretch>
        </p:blipFill>
        <p:spPr>
          <a:xfrm>
            <a:off x="5412545" y="1856383"/>
            <a:ext cx="5979070" cy="427632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558786" y="511175"/>
            <a:ext cx="11074123" cy="38100"/>
          </a:xfrm>
          <a:prstGeom prst="roundRect">
            <a:avLst>
              <a:gd name="adj" fmla="val 49999"/>
            </a:avLst>
          </a:prstGeom>
          <a:solidFill>
            <a:srgbClr val="083C35"/>
          </a:solidFill>
          <a:ln/>
        </p:spPr>
      </p:sp>
      <p:sp>
        <p:nvSpPr>
          <p:cNvPr id="3" name="Text 1"/>
          <p:cNvSpPr/>
          <p:nvPr/>
        </p:nvSpPr>
        <p:spPr>
          <a:xfrm>
            <a:off x="558786" y="815530"/>
            <a:ext cx="11632909" cy="173137"/>
          </a:xfrm>
          <a:prstGeom prst="rect">
            <a:avLst/>
          </a:prstGeom>
          <a:noFill/>
          <a:ln/>
        </p:spPr>
        <p:txBody>
          <a:bodyPr wrap="none" lIns="0" tIns="0" rIns="0" bIns="0" rtlCol="0" anchor="t"/>
          <a:lstStyle/>
          <a:p>
            <a:pPr marL="0" indent="0" algn="l">
              <a:lnSpc>
                <a:spcPct val="103000"/>
              </a:lnSpc>
              <a:buNone/>
            </a:pPr>
            <a:r>
              <a:rPr lang="en-US" sz="1100" kern="100" spc="60" dirty="0">
                <a:solidFill>
                  <a:srgbClr val="0A7C78"/>
                </a:solidFill>
                <a:latin typeface="IBM Plex Sans SemiBold" pitchFamily="34" charset="0"/>
                <a:ea typeface="IBM Plex Sans SemiBold" pitchFamily="34" charset="-122"/>
                <a:cs typeface="IBM Plex Sans SemiBold" pitchFamily="34" charset="-120"/>
              </a:rPr>
              <a:t>SYSTEM ARCHITECTURE</a:t>
            </a:r>
            <a:endParaRPr lang="en-US" sz="1100" dirty="0"/>
          </a:p>
        </p:txBody>
      </p:sp>
      <p:sp>
        <p:nvSpPr>
          <p:cNvPr id="4" name="Text 2"/>
          <p:cNvSpPr/>
          <p:nvPr/>
        </p:nvSpPr>
        <p:spPr>
          <a:xfrm>
            <a:off x="558786" y="1114397"/>
            <a:ext cx="11074123" cy="457696"/>
          </a:xfrm>
          <a:prstGeom prst="rect">
            <a:avLst/>
          </a:prstGeom>
          <a:noFill/>
          <a:ln/>
        </p:spPr>
        <p:txBody>
          <a:bodyPr wrap="none" lIns="0" tIns="0" rIns="0" bIns="0" rtlCol="0" anchor="t"/>
          <a:lstStyle/>
          <a:p>
            <a:pPr marL="0" indent="0" algn="l">
              <a:lnSpc>
                <a:spcPct val="88000"/>
              </a:lnSpc>
              <a:buNone/>
            </a:pPr>
            <a:r>
              <a:rPr lang="en-US" sz="3400" b="1" kern="100" spc="-68" dirty="0">
                <a:solidFill>
                  <a:srgbClr val="10201D"/>
                </a:solidFill>
                <a:latin typeface="Sora Bold" pitchFamily="34" charset="0"/>
                <a:ea typeface="Sora Bold" pitchFamily="34" charset="-122"/>
                <a:cs typeface="Sora Bold" pitchFamily="34" charset="-120"/>
              </a:rPr>
              <a:t>A layered stack that maps directly to MERN</a:t>
            </a:r>
            <a:endParaRPr lang="en-US" sz="3400" dirty="0"/>
          </a:p>
        </p:txBody>
      </p:sp>
      <p:sp>
        <p:nvSpPr>
          <p:cNvPr id="5" name="Text 3"/>
          <p:cNvSpPr/>
          <p:nvPr/>
        </p:nvSpPr>
        <p:spPr>
          <a:xfrm>
            <a:off x="558786" y="1853970"/>
            <a:ext cx="3230779" cy="301724"/>
          </a:xfrm>
          <a:prstGeom prst="rect">
            <a:avLst/>
          </a:prstGeom>
          <a:noFill/>
          <a:ln/>
        </p:spPr>
        <p:txBody>
          <a:bodyPr wrap="none" lIns="0" tIns="0" rIns="0" bIns="0" rtlCol="0" anchor="t"/>
          <a:lstStyle/>
          <a:p>
            <a:pPr marL="0" indent="0" algn="l">
              <a:lnSpc>
                <a:spcPct val="110000"/>
              </a:lnSpc>
              <a:buNone/>
            </a:pPr>
            <a:r>
              <a:rPr lang="en-US" sz="1800" dirty="0">
                <a:solidFill>
                  <a:srgbClr val="10201D"/>
                </a:solidFill>
                <a:latin typeface="IBM Plex Sans" pitchFamily="34" charset="0"/>
                <a:ea typeface="IBM Plex Sans" pitchFamily="34" charset="-122"/>
                <a:cs typeface="IBM Plex Sans" pitchFamily="34" charset="-120"/>
              </a:rPr>
              <a:t>Frontend Tier</a:t>
            </a:r>
            <a:endParaRPr lang="en-US" sz="1800" dirty="0"/>
          </a:p>
        </p:txBody>
      </p:sp>
      <p:sp>
        <p:nvSpPr>
          <p:cNvPr id="6" name="Text 4"/>
          <p:cNvSpPr/>
          <p:nvPr/>
        </p:nvSpPr>
        <p:spPr>
          <a:xfrm>
            <a:off x="4094259" y="1849017"/>
            <a:ext cx="7538650" cy="490537"/>
          </a:xfrm>
          <a:prstGeom prst="rect">
            <a:avLst/>
          </a:prstGeom>
          <a:noFill/>
          <a:ln/>
        </p:spPr>
        <p:txBody>
          <a:bodyPr wrap="square" lIns="0" tIns="0" rIns="0" bIns="0" rtlCol="0" anchor="t">
            <a:normAutofit/>
          </a:bodyPr>
          <a:lstStyle/>
          <a:p>
            <a:pPr marL="0" indent="0" algn="l">
              <a:lnSpc>
                <a:spcPct val="115000"/>
              </a:lnSpc>
              <a:buNone/>
            </a:pPr>
            <a:r>
              <a:rPr lang="en-US" sz="1400" b="1" dirty="0">
                <a:solidFill>
                  <a:srgbClr val="10201D"/>
                </a:solidFill>
                <a:latin typeface="IBM Plex Sans Bold" pitchFamily="34" charset="0"/>
                <a:ea typeface="IBM Plex Sans Bold" pitchFamily="34" charset="-122"/>
                <a:cs typeface="IBM Plex Sans Bold" pitchFamily="34" charset="-120"/>
              </a:rPr>
              <a:t>React + Tailwind CSS</a:t>
            </a:r>
            <a:r>
              <a:rPr lang="en-US" sz="1400" dirty="0">
                <a:solidFill>
                  <a:srgbClr val="10201D"/>
                </a:solidFill>
                <a:latin typeface="IBM Plex Sans" pitchFamily="34" charset="0"/>
                <a:ea typeface="IBM Plex Sans" pitchFamily="34" charset="-122"/>
                <a:cs typeface="IBM Plex Sans" pitchFamily="34" charset="-120"/>
              </a:rPr>
              <a:t> with accessible high-contrast UI, Leaflet geospatial maps, and Chart.js telemetry.</a:t>
            </a:r>
            <a:endParaRPr lang="en-US" sz="1400" dirty="0"/>
          </a:p>
        </p:txBody>
      </p:sp>
      <p:sp>
        <p:nvSpPr>
          <p:cNvPr id="7" name="Text 5"/>
          <p:cNvSpPr/>
          <p:nvPr/>
        </p:nvSpPr>
        <p:spPr>
          <a:xfrm>
            <a:off x="558786" y="2598507"/>
            <a:ext cx="3230779" cy="301724"/>
          </a:xfrm>
          <a:prstGeom prst="rect">
            <a:avLst/>
          </a:prstGeom>
          <a:noFill/>
          <a:ln/>
        </p:spPr>
        <p:txBody>
          <a:bodyPr wrap="none" lIns="0" tIns="0" rIns="0" bIns="0" rtlCol="0" anchor="t"/>
          <a:lstStyle/>
          <a:p>
            <a:pPr marL="0" indent="0" algn="l">
              <a:lnSpc>
                <a:spcPct val="110000"/>
              </a:lnSpc>
              <a:buNone/>
            </a:pPr>
            <a:r>
              <a:rPr lang="en-US" sz="1800" dirty="0">
                <a:solidFill>
                  <a:srgbClr val="10201D"/>
                </a:solidFill>
                <a:latin typeface="IBM Plex Sans" pitchFamily="34" charset="0"/>
                <a:ea typeface="IBM Plex Sans" pitchFamily="34" charset="-122"/>
                <a:cs typeface="IBM Plex Sans" pitchFamily="34" charset="-120"/>
              </a:rPr>
              <a:t>API &amp; Business Tier</a:t>
            </a:r>
            <a:endParaRPr lang="en-US" sz="1800" dirty="0"/>
          </a:p>
        </p:txBody>
      </p:sp>
      <p:sp>
        <p:nvSpPr>
          <p:cNvPr id="8" name="Text 6"/>
          <p:cNvSpPr/>
          <p:nvPr/>
        </p:nvSpPr>
        <p:spPr>
          <a:xfrm>
            <a:off x="4094259" y="2593554"/>
            <a:ext cx="7538650" cy="490537"/>
          </a:xfrm>
          <a:prstGeom prst="rect">
            <a:avLst/>
          </a:prstGeom>
          <a:noFill/>
          <a:ln/>
        </p:spPr>
        <p:txBody>
          <a:bodyPr wrap="square" lIns="0" tIns="0" rIns="0" bIns="0" rtlCol="0" anchor="t">
            <a:normAutofit/>
          </a:bodyPr>
          <a:lstStyle/>
          <a:p>
            <a:pPr marL="0" indent="0" algn="l">
              <a:lnSpc>
                <a:spcPct val="115000"/>
              </a:lnSpc>
              <a:buNone/>
            </a:pPr>
            <a:r>
              <a:rPr lang="en-US" sz="1400" b="1" dirty="0">
                <a:solidFill>
                  <a:srgbClr val="10201D"/>
                </a:solidFill>
                <a:latin typeface="IBM Plex Sans Bold" pitchFamily="34" charset="0"/>
                <a:ea typeface="IBM Plex Sans Bold" pitchFamily="34" charset="-122"/>
                <a:cs typeface="IBM Plex Sans Bold" pitchFamily="34" charset="-120"/>
              </a:rPr>
              <a:t>Node.js &amp; Express</a:t>
            </a:r>
            <a:r>
              <a:rPr lang="en-US" sz="1400" dirty="0">
                <a:solidFill>
                  <a:srgbClr val="10201D"/>
                </a:solidFill>
                <a:latin typeface="IBM Plex Sans" pitchFamily="34" charset="0"/>
                <a:ea typeface="IBM Plex Sans" pitchFamily="34" charset="-122"/>
                <a:cs typeface="IBM Plex Sans" pitchFamily="34" charset="-120"/>
              </a:rPr>
              <a:t> running the explainable matching algorithm, cryptographic OTP verification, and RBAC security.</a:t>
            </a:r>
            <a:endParaRPr lang="en-US" sz="1400" dirty="0"/>
          </a:p>
        </p:txBody>
      </p:sp>
      <p:sp>
        <p:nvSpPr>
          <p:cNvPr id="9" name="Text 7"/>
          <p:cNvSpPr/>
          <p:nvPr/>
        </p:nvSpPr>
        <p:spPr>
          <a:xfrm>
            <a:off x="558786" y="3343045"/>
            <a:ext cx="3230779" cy="301724"/>
          </a:xfrm>
          <a:prstGeom prst="rect">
            <a:avLst/>
          </a:prstGeom>
          <a:noFill/>
          <a:ln/>
        </p:spPr>
        <p:txBody>
          <a:bodyPr wrap="none" lIns="0" tIns="0" rIns="0" bIns="0" rtlCol="0" anchor="t"/>
          <a:lstStyle/>
          <a:p>
            <a:pPr marL="0" indent="0" algn="l">
              <a:lnSpc>
                <a:spcPct val="110000"/>
              </a:lnSpc>
              <a:buNone/>
            </a:pPr>
            <a:r>
              <a:rPr lang="en-US" sz="1800" dirty="0">
                <a:solidFill>
                  <a:srgbClr val="10201D"/>
                </a:solidFill>
                <a:latin typeface="IBM Plex Sans" pitchFamily="34" charset="0"/>
                <a:ea typeface="IBM Plex Sans" pitchFamily="34" charset="-122"/>
                <a:cs typeface="IBM Plex Sans" pitchFamily="34" charset="-120"/>
              </a:rPr>
              <a:t>Database Tier</a:t>
            </a:r>
            <a:endParaRPr lang="en-US" sz="1800" dirty="0"/>
          </a:p>
        </p:txBody>
      </p:sp>
      <p:sp>
        <p:nvSpPr>
          <p:cNvPr id="10" name="Text 8"/>
          <p:cNvSpPr/>
          <p:nvPr/>
        </p:nvSpPr>
        <p:spPr>
          <a:xfrm>
            <a:off x="4094259" y="3338092"/>
            <a:ext cx="7538650" cy="490537"/>
          </a:xfrm>
          <a:prstGeom prst="rect">
            <a:avLst/>
          </a:prstGeom>
          <a:noFill/>
          <a:ln/>
        </p:spPr>
        <p:txBody>
          <a:bodyPr wrap="square" lIns="0" tIns="0" rIns="0" bIns="0" rtlCol="0" anchor="t">
            <a:normAutofit/>
          </a:bodyPr>
          <a:lstStyle/>
          <a:p>
            <a:pPr marL="0" indent="0" algn="l">
              <a:lnSpc>
                <a:spcPct val="115000"/>
              </a:lnSpc>
              <a:buNone/>
            </a:pPr>
            <a:r>
              <a:rPr lang="en-US" sz="1400" b="1" dirty="0">
                <a:solidFill>
                  <a:srgbClr val="10201D"/>
                </a:solidFill>
                <a:latin typeface="IBM Plex Sans Bold" pitchFamily="34" charset="0"/>
                <a:ea typeface="IBM Plex Sans Bold" pitchFamily="34" charset="-122"/>
                <a:cs typeface="IBM Plex Sans Bold" pitchFamily="34" charset="-120"/>
              </a:rPr>
              <a:t>MongoDB</a:t>
            </a:r>
            <a:r>
              <a:rPr lang="en-US" sz="1400" dirty="0">
                <a:solidFill>
                  <a:srgbClr val="10201D"/>
                </a:solidFill>
                <a:latin typeface="IBM Plex Sans" pitchFamily="34" charset="0"/>
                <a:ea typeface="IBM Plex Sans" pitchFamily="34" charset="-122"/>
                <a:cs typeface="IBM Plex Sans" pitchFamily="34" charset="-120"/>
              </a:rPr>
              <a:t> storing users, verified volunteer credentials, requests, match offers, feedback logs, and audit trails.</a:t>
            </a:r>
            <a:endParaRPr lang="en-US" sz="1400" dirty="0"/>
          </a:p>
        </p:txBody>
      </p:sp>
      <p:sp>
        <p:nvSpPr>
          <p:cNvPr id="11" name="Text 9"/>
          <p:cNvSpPr/>
          <p:nvPr/>
        </p:nvSpPr>
        <p:spPr>
          <a:xfrm>
            <a:off x="558786" y="4087582"/>
            <a:ext cx="3230779" cy="301724"/>
          </a:xfrm>
          <a:prstGeom prst="rect">
            <a:avLst/>
          </a:prstGeom>
          <a:noFill/>
          <a:ln/>
        </p:spPr>
        <p:txBody>
          <a:bodyPr wrap="none" lIns="0" tIns="0" rIns="0" bIns="0" rtlCol="0" anchor="t"/>
          <a:lstStyle/>
          <a:p>
            <a:pPr marL="0" indent="0" algn="l">
              <a:lnSpc>
                <a:spcPct val="110000"/>
              </a:lnSpc>
              <a:buNone/>
            </a:pPr>
            <a:r>
              <a:rPr lang="en-US" sz="1800" dirty="0">
                <a:solidFill>
                  <a:srgbClr val="10201D"/>
                </a:solidFill>
                <a:latin typeface="IBM Plex Sans" pitchFamily="34" charset="0"/>
                <a:ea typeface="IBM Plex Sans" pitchFamily="34" charset="-122"/>
                <a:cs typeface="IBM Plex Sans" pitchFamily="34" charset="-120"/>
              </a:rPr>
              <a:t>Real-Time &amp; Hosting</a:t>
            </a:r>
            <a:endParaRPr lang="en-US" sz="1800" dirty="0"/>
          </a:p>
        </p:txBody>
      </p:sp>
      <p:sp>
        <p:nvSpPr>
          <p:cNvPr id="12" name="Text 10"/>
          <p:cNvSpPr/>
          <p:nvPr/>
        </p:nvSpPr>
        <p:spPr>
          <a:xfrm>
            <a:off x="4094259" y="4082629"/>
            <a:ext cx="7538650" cy="490537"/>
          </a:xfrm>
          <a:prstGeom prst="rect">
            <a:avLst/>
          </a:prstGeom>
          <a:noFill/>
          <a:ln/>
        </p:spPr>
        <p:txBody>
          <a:bodyPr wrap="square" lIns="0" tIns="0" rIns="0" bIns="0" rtlCol="0" anchor="t">
            <a:normAutofit/>
          </a:bodyPr>
          <a:lstStyle/>
          <a:p>
            <a:pPr marL="0" indent="0" algn="l">
              <a:lnSpc>
                <a:spcPct val="115000"/>
              </a:lnSpc>
              <a:buNone/>
            </a:pPr>
            <a:r>
              <a:rPr lang="en-US" sz="1400" b="1" dirty="0">
                <a:solidFill>
                  <a:srgbClr val="10201D"/>
                </a:solidFill>
                <a:latin typeface="IBM Plex Sans Bold" pitchFamily="34" charset="0"/>
                <a:ea typeface="IBM Plex Sans Bold" pitchFamily="34" charset="-122"/>
                <a:cs typeface="IBM Plex Sans Bold" pitchFamily="34" charset="-120"/>
              </a:rPr>
              <a:t>Socket.io</a:t>
            </a:r>
            <a:r>
              <a:rPr lang="en-US" sz="1400" dirty="0">
                <a:solidFill>
                  <a:srgbClr val="10201D"/>
                </a:solidFill>
                <a:latin typeface="IBM Plex Sans" pitchFamily="34" charset="0"/>
                <a:ea typeface="IBM Plex Sans" pitchFamily="34" charset="-122"/>
                <a:cs typeface="IBM Plex Sans" pitchFamily="34" charset="-120"/>
              </a:rPr>
              <a:t> for live dispatch subscriptions and immediate SOS alerts. Prototype hosted on </a:t>
            </a:r>
            <a:r>
              <a:rPr lang="en-US" sz="1400" b="1" dirty="0">
                <a:solidFill>
                  <a:srgbClr val="10201D"/>
                </a:solidFill>
                <a:latin typeface="IBM Plex Sans Bold" pitchFamily="34" charset="0"/>
                <a:ea typeface="IBM Plex Sans Bold" pitchFamily="34" charset="-122"/>
                <a:cs typeface="IBM Plex Sans Bold" pitchFamily="34" charset="-120"/>
              </a:rPr>
              <a:t>Base44</a:t>
            </a:r>
            <a:r>
              <a:rPr lang="en-US" sz="1400" dirty="0">
                <a:solidFill>
                  <a:srgbClr val="10201D"/>
                </a:solidFill>
                <a:latin typeface="IBM Plex Sans" pitchFamily="34" charset="0"/>
                <a:ea typeface="IBM Plex Sans" pitchFamily="34" charset="-122"/>
                <a:cs typeface="IBM Plex Sans" pitchFamily="34" charset="-120"/>
              </a:rPr>
              <a:t>; designed to map directly to the MERN stack for production.</a:t>
            </a:r>
            <a:endParaRPr lang="en-US" sz="1400" dirty="0"/>
          </a:p>
        </p:txBody>
      </p:sp>
      <p:sp>
        <p:nvSpPr>
          <p:cNvPr id="13" name="Shape 11"/>
          <p:cNvSpPr/>
          <p:nvPr/>
        </p:nvSpPr>
        <p:spPr>
          <a:xfrm>
            <a:off x="558786" y="5937052"/>
            <a:ext cx="11074123" cy="463748"/>
          </a:xfrm>
          <a:prstGeom prst="roundRect">
            <a:avLst>
              <a:gd name="adj" fmla="val 46007"/>
            </a:avLst>
          </a:prstGeom>
          <a:solidFill>
            <a:srgbClr val="F2F4ED"/>
          </a:solidFill>
          <a:ln w="12700">
            <a:solidFill>
              <a:srgbClr val="CBD4CE"/>
            </a:solidFill>
            <a:prstDash val="solid"/>
          </a:ln>
          <a:effectLst>
            <a:outerShdw blurRad="227330" dist="74930" dir="5400000" algn="bl" rotWithShape="0">
              <a:srgbClr val="083C35">
                <a:alpha val="10000"/>
              </a:srgbClr>
            </a:outerShdw>
          </a:effectLst>
        </p:spPr>
      </p:sp>
      <p:sp>
        <p:nvSpPr>
          <p:cNvPr id="14" name="Text 12"/>
          <p:cNvSpPr/>
          <p:nvPr/>
        </p:nvSpPr>
        <p:spPr>
          <a:xfrm>
            <a:off x="774681" y="6083038"/>
            <a:ext cx="10858228" cy="184348"/>
          </a:xfrm>
          <a:prstGeom prst="rect">
            <a:avLst/>
          </a:prstGeom>
          <a:noFill/>
          <a:ln/>
        </p:spPr>
        <p:txBody>
          <a:bodyPr wrap="none" lIns="0" tIns="0" rIns="0" bIns="0" rtlCol="0" anchor="t"/>
          <a:lstStyle/>
          <a:p>
            <a:pPr marL="0" indent="0" algn="l">
              <a:lnSpc>
                <a:spcPct val="110000"/>
              </a:lnSpc>
              <a:buNone/>
            </a:pPr>
            <a:r>
              <a:rPr lang="en-US" sz="1100" dirty="0">
                <a:solidFill>
                  <a:srgbClr val="000000"/>
                </a:solidFill>
                <a:latin typeface="IBM Plex Sans" pitchFamily="34" charset="0"/>
                <a:ea typeface="IBM Plex Sans" pitchFamily="34" charset="-122"/>
                <a:cs typeface="IBM Plex Sans" pitchFamily="34" charset="-120"/>
              </a:rPr>
              <a:t>Modular production-ready separation: Clean stateless API layers ensure zero vendor lock-in when migrating from Base44 to distributed Kubernetes clusters.</a:t>
            </a:r>
            <a:endParaRPr lang="en-US" sz="1100" dirty="0"/>
          </a:p>
        </p:txBody>
      </p:sp>
      <p:sp>
        <p:nvSpPr>
          <p:cNvPr id="15" name="Shape 13"/>
          <p:cNvSpPr/>
          <p:nvPr/>
        </p:nvSpPr>
        <p:spPr>
          <a:xfrm>
            <a:off x="558786" y="2454870"/>
            <a:ext cx="11074123" cy="12700"/>
          </a:xfrm>
          <a:prstGeom prst="rect">
            <a:avLst/>
          </a:prstGeom>
          <a:solidFill>
            <a:srgbClr val="CBD4CE"/>
          </a:solidFill>
          <a:ln/>
        </p:spPr>
      </p:sp>
      <p:sp>
        <p:nvSpPr>
          <p:cNvPr id="16" name="Shape 14"/>
          <p:cNvSpPr/>
          <p:nvPr/>
        </p:nvSpPr>
        <p:spPr>
          <a:xfrm>
            <a:off x="558786" y="3199408"/>
            <a:ext cx="11074123" cy="12700"/>
          </a:xfrm>
          <a:prstGeom prst="rect">
            <a:avLst/>
          </a:prstGeom>
          <a:solidFill>
            <a:srgbClr val="CBD4CE"/>
          </a:solidFill>
          <a:ln/>
        </p:spPr>
      </p:sp>
      <p:sp>
        <p:nvSpPr>
          <p:cNvPr id="17" name="Shape 15"/>
          <p:cNvSpPr/>
          <p:nvPr/>
        </p:nvSpPr>
        <p:spPr>
          <a:xfrm>
            <a:off x="558786" y="3943945"/>
            <a:ext cx="11074123" cy="12700"/>
          </a:xfrm>
          <a:prstGeom prst="rect">
            <a:avLst/>
          </a:prstGeom>
          <a:solidFill>
            <a:srgbClr val="CBD4CE"/>
          </a:solidFill>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58786" y="669480"/>
            <a:ext cx="11632909" cy="173137"/>
          </a:xfrm>
          <a:prstGeom prst="rect">
            <a:avLst/>
          </a:prstGeom>
          <a:noFill/>
          <a:ln/>
        </p:spPr>
        <p:txBody>
          <a:bodyPr wrap="none" lIns="0" tIns="0" rIns="0" bIns="0" rtlCol="0" anchor="t"/>
          <a:lstStyle/>
          <a:p>
            <a:pPr marL="0" indent="0" algn="l">
              <a:lnSpc>
                <a:spcPct val="103000"/>
              </a:lnSpc>
              <a:buNone/>
            </a:pPr>
            <a:r>
              <a:rPr lang="en-US" sz="1100" kern="100" spc="60" dirty="0">
                <a:solidFill>
                  <a:srgbClr val="0A7C78"/>
                </a:solidFill>
                <a:latin typeface="IBM Plex Sans SemiBold" pitchFamily="34" charset="0"/>
                <a:ea typeface="IBM Plex Sans SemiBold" pitchFamily="34" charset="-122"/>
                <a:cs typeface="IBM Plex Sans SemiBold" pitchFamily="34" charset="-120"/>
              </a:rPr>
              <a:t>ROADMAP &amp; SCALE</a:t>
            </a:r>
            <a:endParaRPr lang="en-US" sz="1100" dirty="0"/>
          </a:p>
        </p:txBody>
      </p:sp>
      <p:sp>
        <p:nvSpPr>
          <p:cNvPr id="3" name="Text 1"/>
          <p:cNvSpPr/>
          <p:nvPr/>
        </p:nvSpPr>
        <p:spPr>
          <a:xfrm>
            <a:off x="558786" y="968347"/>
            <a:ext cx="11074123" cy="457696"/>
          </a:xfrm>
          <a:prstGeom prst="rect">
            <a:avLst/>
          </a:prstGeom>
          <a:noFill/>
          <a:ln/>
        </p:spPr>
        <p:txBody>
          <a:bodyPr wrap="none" lIns="0" tIns="0" rIns="0" bIns="0" rtlCol="0" anchor="t"/>
          <a:lstStyle/>
          <a:p>
            <a:pPr marL="0" indent="0" algn="l">
              <a:lnSpc>
                <a:spcPct val="88000"/>
              </a:lnSpc>
              <a:buNone/>
            </a:pPr>
            <a:r>
              <a:rPr lang="en-US" sz="3400" b="1" kern="100" spc="-68" dirty="0">
                <a:solidFill>
                  <a:srgbClr val="10201D"/>
                </a:solidFill>
                <a:latin typeface="Sora Bold" pitchFamily="34" charset="0"/>
                <a:ea typeface="Sora Bold" pitchFamily="34" charset="-122"/>
                <a:cs typeface="Sora Bold" pitchFamily="34" charset="-120"/>
              </a:rPr>
              <a:t>From working prototype to multi-city pilot</a:t>
            </a:r>
            <a:endParaRPr lang="en-US" sz="3400" dirty="0"/>
          </a:p>
        </p:txBody>
      </p:sp>
      <p:sp>
        <p:nvSpPr>
          <p:cNvPr id="4" name="Shape 2"/>
          <p:cNvSpPr/>
          <p:nvPr/>
        </p:nvSpPr>
        <p:spPr>
          <a:xfrm>
            <a:off x="558786" y="2894806"/>
            <a:ext cx="11074123" cy="28575"/>
          </a:xfrm>
          <a:prstGeom prst="roundRect">
            <a:avLst>
              <a:gd name="adj" fmla="val 49999"/>
            </a:avLst>
          </a:prstGeom>
          <a:solidFill>
            <a:srgbClr val="CBCFC0"/>
          </a:solidFill>
          <a:ln/>
        </p:spPr>
      </p:sp>
      <p:sp>
        <p:nvSpPr>
          <p:cNvPr id="5" name="Shape 3"/>
          <p:cNvSpPr/>
          <p:nvPr/>
        </p:nvSpPr>
        <p:spPr>
          <a:xfrm>
            <a:off x="2678343" y="2463006"/>
            <a:ext cx="28574" cy="431800"/>
          </a:xfrm>
          <a:prstGeom prst="roundRect">
            <a:avLst>
              <a:gd name="adj" fmla="val 50000"/>
            </a:avLst>
          </a:prstGeom>
          <a:solidFill>
            <a:srgbClr val="CBCFC0"/>
          </a:solidFill>
          <a:ln/>
        </p:spPr>
      </p:sp>
      <p:sp>
        <p:nvSpPr>
          <p:cNvPr id="6" name="Shape 4"/>
          <p:cNvSpPr/>
          <p:nvPr/>
        </p:nvSpPr>
        <p:spPr>
          <a:xfrm>
            <a:off x="2611670" y="2813844"/>
            <a:ext cx="161921" cy="161925"/>
          </a:xfrm>
          <a:prstGeom prst="ellipse">
            <a:avLst/>
          </a:prstGeom>
          <a:solidFill>
            <a:srgbClr val="083C35"/>
          </a:solidFill>
          <a:ln/>
        </p:spPr>
      </p:sp>
      <p:sp>
        <p:nvSpPr>
          <p:cNvPr id="7" name="Text 5"/>
          <p:cNvSpPr/>
          <p:nvPr/>
        </p:nvSpPr>
        <p:spPr>
          <a:xfrm>
            <a:off x="774681" y="1570633"/>
            <a:ext cx="3835899" cy="301724"/>
          </a:xfrm>
          <a:prstGeom prst="rect">
            <a:avLst/>
          </a:prstGeom>
          <a:noFill/>
          <a:ln/>
        </p:spPr>
        <p:txBody>
          <a:bodyPr wrap="none" lIns="0" tIns="0" rIns="0" bIns="0" rtlCol="0" anchor="t"/>
          <a:lstStyle/>
          <a:p>
            <a:pPr marL="0" indent="0" algn="ctr">
              <a:lnSpc>
                <a:spcPct val="110000"/>
              </a:lnSpc>
              <a:buNone/>
            </a:pPr>
            <a:r>
              <a:rPr lang="en-US" sz="1800" b="1" kern="100" spc="-36" dirty="0">
                <a:solidFill>
                  <a:srgbClr val="10201D"/>
                </a:solidFill>
                <a:latin typeface="Sora Bold" pitchFamily="34" charset="0"/>
                <a:ea typeface="Sora Bold" pitchFamily="34" charset="-122"/>
                <a:cs typeface="Sora Bold" pitchFamily="34" charset="-120"/>
              </a:rPr>
              <a:t>Now</a:t>
            </a:r>
            <a:endParaRPr lang="en-US" sz="1800" dirty="0"/>
          </a:p>
        </p:txBody>
      </p:sp>
      <p:sp>
        <p:nvSpPr>
          <p:cNvPr id="8" name="Text 6"/>
          <p:cNvSpPr/>
          <p:nvPr/>
        </p:nvSpPr>
        <p:spPr>
          <a:xfrm>
            <a:off x="774681" y="2001837"/>
            <a:ext cx="3835899" cy="245269"/>
          </a:xfrm>
          <a:prstGeom prst="rect">
            <a:avLst/>
          </a:prstGeom>
          <a:noFill/>
          <a:ln/>
        </p:spPr>
        <p:txBody>
          <a:bodyPr wrap="none" lIns="0" tIns="0" rIns="0" bIns="0" rtlCol="0" anchor="t"/>
          <a:lstStyle/>
          <a:p>
            <a:pPr marL="0" indent="0" algn="ctr">
              <a:lnSpc>
                <a:spcPct val="115000"/>
              </a:lnSpc>
              <a:buNone/>
            </a:pPr>
            <a:r>
              <a:rPr lang="en-US" sz="1400" dirty="0">
                <a:solidFill>
                  <a:srgbClr val="10201D"/>
                </a:solidFill>
                <a:latin typeface="IBM Plex Sans" pitchFamily="34" charset="0"/>
                <a:ea typeface="IBM Plex Sans" pitchFamily="34" charset="-122"/>
                <a:cs typeface="IBM Plex Sans" pitchFamily="34" charset="-120"/>
              </a:rPr>
              <a:t>Working prototype</a:t>
            </a:r>
            <a:endParaRPr lang="en-US" sz="1400" dirty="0"/>
          </a:p>
        </p:txBody>
      </p:sp>
      <p:sp>
        <p:nvSpPr>
          <p:cNvPr id="9" name="Shape 7"/>
          <p:cNvSpPr/>
          <p:nvPr/>
        </p:nvSpPr>
        <p:spPr>
          <a:xfrm>
            <a:off x="4947122" y="2894806"/>
            <a:ext cx="28574" cy="431800"/>
          </a:xfrm>
          <a:prstGeom prst="roundRect">
            <a:avLst>
              <a:gd name="adj" fmla="val 50000"/>
            </a:avLst>
          </a:prstGeom>
          <a:solidFill>
            <a:srgbClr val="CBCFC0"/>
          </a:solidFill>
          <a:ln/>
        </p:spPr>
      </p:sp>
      <p:sp>
        <p:nvSpPr>
          <p:cNvPr id="10" name="Shape 8"/>
          <p:cNvSpPr/>
          <p:nvPr/>
        </p:nvSpPr>
        <p:spPr>
          <a:xfrm>
            <a:off x="4880448" y="2813844"/>
            <a:ext cx="161921" cy="161925"/>
          </a:xfrm>
          <a:prstGeom prst="ellipse">
            <a:avLst/>
          </a:prstGeom>
          <a:solidFill>
            <a:srgbClr val="083C35"/>
          </a:solidFill>
          <a:ln/>
        </p:spPr>
      </p:sp>
      <p:sp>
        <p:nvSpPr>
          <p:cNvPr id="11" name="Text 9"/>
          <p:cNvSpPr/>
          <p:nvPr/>
        </p:nvSpPr>
        <p:spPr>
          <a:xfrm>
            <a:off x="3043459" y="3542506"/>
            <a:ext cx="3835899" cy="301724"/>
          </a:xfrm>
          <a:prstGeom prst="rect">
            <a:avLst/>
          </a:prstGeom>
          <a:noFill/>
          <a:ln/>
        </p:spPr>
        <p:txBody>
          <a:bodyPr wrap="none" lIns="0" tIns="0" rIns="0" bIns="0" rtlCol="0" anchor="t"/>
          <a:lstStyle/>
          <a:p>
            <a:pPr marL="0" indent="0" algn="ctr">
              <a:lnSpc>
                <a:spcPct val="110000"/>
              </a:lnSpc>
              <a:buNone/>
            </a:pPr>
            <a:r>
              <a:rPr lang="en-US" sz="1800" b="1" kern="100" spc="-36" dirty="0">
                <a:solidFill>
                  <a:srgbClr val="10201D"/>
                </a:solidFill>
                <a:latin typeface="Sora Bold" pitchFamily="34" charset="0"/>
                <a:ea typeface="Sora Bold" pitchFamily="34" charset="-122"/>
                <a:cs typeface="Sora Bold" pitchFamily="34" charset="-120"/>
              </a:rPr>
              <a:t>30 days</a:t>
            </a:r>
            <a:endParaRPr lang="en-US" sz="1800" dirty="0"/>
          </a:p>
        </p:txBody>
      </p:sp>
      <p:sp>
        <p:nvSpPr>
          <p:cNvPr id="12" name="Text 10"/>
          <p:cNvSpPr/>
          <p:nvPr/>
        </p:nvSpPr>
        <p:spPr>
          <a:xfrm>
            <a:off x="3043459" y="3973711"/>
            <a:ext cx="3835899" cy="245269"/>
          </a:xfrm>
          <a:prstGeom prst="rect">
            <a:avLst/>
          </a:prstGeom>
          <a:noFill/>
          <a:ln/>
        </p:spPr>
        <p:txBody>
          <a:bodyPr wrap="none" lIns="0" tIns="0" rIns="0" bIns="0" rtlCol="0" anchor="t"/>
          <a:lstStyle/>
          <a:p>
            <a:pPr marL="0" indent="0" algn="ctr">
              <a:lnSpc>
                <a:spcPct val="115000"/>
              </a:lnSpc>
              <a:buNone/>
            </a:pPr>
            <a:r>
              <a:rPr lang="en-US" sz="1400" dirty="0">
                <a:solidFill>
                  <a:srgbClr val="10201D"/>
                </a:solidFill>
                <a:latin typeface="IBM Plex Sans" pitchFamily="34" charset="0"/>
                <a:ea typeface="IBM Plex Sans" pitchFamily="34" charset="-122"/>
                <a:cs typeface="IBM Plex Sans" pitchFamily="34" charset="-120"/>
              </a:rPr>
              <a:t>Pilot with one NGO</a:t>
            </a:r>
            <a:endParaRPr lang="en-US" sz="1400" dirty="0"/>
          </a:p>
        </p:txBody>
      </p:sp>
      <p:sp>
        <p:nvSpPr>
          <p:cNvPr id="13" name="Shape 11"/>
          <p:cNvSpPr/>
          <p:nvPr/>
        </p:nvSpPr>
        <p:spPr>
          <a:xfrm>
            <a:off x="7215900" y="2463006"/>
            <a:ext cx="28574" cy="431800"/>
          </a:xfrm>
          <a:prstGeom prst="roundRect">
            <a:avLst>
              <a:gd name="adj" fmla="val 50000"/>
            </a:avLst>
          </a:prstGeom>
          <a:solidFill>
            <a:srgbClr val="CBCFC0"/>
          </a:solidFill>
          <a:ln/>
        </p:spPr>
      </p:sp>
      <p:sp>
        <p:nvSpPr>
          <p:cNvPr id="14" name="Shape 12"/>
          <p:cNvSpPr/>
          <p:nvPr/>
        </p:nvSpPr>
        <p:spPr>
          <a:xfrm>
            <a:off x="7149227" y="2813844"/>
            <a:ext cx="161921" cy="161925"/>
          </a:xfrm>
          <a:prstGeom prst="ellipse">
            <a:avLst/>
          </a:prstGeom>
          <a:solidFill>
            <a:srgbClr val="083C35"/>
          </a:solidFill>
          <a:ln/>
        </p:spPr>
      </p:sp>
      <p:sp>
        <p:nvSpPr>
          <p:cNvPr id="15" name="Text 13"/>
          <p:cNvSpPr/>
          <p:nvPr/>
        </p:nvSpPr>
        <p:spPr>
          <a:xfrm>
            <a:off x="5312237" y="1570633"/>
            <a:ext cx="3835899" cy="301724"/>
          </a:xfrm>
          <a:prstGeom prst="rect">
            <a:avLst/>
          </a:prstGeom>
          <a:noFill/>
          <a:ln/>
        </p:spPr>
        <p:txBody>
          <a:bodyPr wrap="none" lIns="0" tIns="0" rIns="0" bIns="0" rtlCol="0" anchor="t"/>
          <a:lstStyle/>
          <a:p>
            <a:pPr marL="0" indent="0" algn="ctr">
              <a:lnSpc>
                <a:spcPct val="110000"/>
              </a:lnSpc>
              <a:buNone/>
            </a:pPr>
            <a:r>
              <a:rPr lang="en-US" sz="1800" b="1" kern="100" spc="-36" dirty="0">
                <a:solidFill>
                  <a:srgbClr val="10201D"/>
                </a:solidFill>
                <a:latin typeface="Sora Bold" pitchFamily="34" charset="0"/>
                <a:ea typeface="Sora Bold" pitchFamily="34" charset="-122"/>
                <a:cs typeface="Sora Bold" pitchFamily="34" charset="-120"/>
              </a:rPr>
              <a:t>90 days</a:t>
            </a:r>
            <a:endParaRPr lang="en-US" sz="1800" dirty="0"/>
          </a:p>
        </p:txBody>
      </p:sp>
      <p:sp>
        <p:nvSpPr>
          <p:cNvPr id="16" name="Text 14"/>
          <p:cNvSpPr/>
          <p:nvPr/>
        </p:nvSpPr>
        <p:spPr>
          <a:xfrm>
            <a:off x="5312237" y="2001837"/>
            <a:ext cx="3835899" cy="245269"/>
          </a:xfrm>
          <a:prstGeom prst="rect">
            <a:avLst/>
          </a:prstGeom>
          <a:noFill/>
          <a:ln/>
        </p:spPr>
        <p:txBody>
          <a:bodyPr wrap="none" lIns="0" tIns="0" rIns="0" bIns="0" rtlCol="0" anchor="t"/>
          <a:lstStyle/>
          <a:p>
            <a:pPr marL="0" indent="0" algn="ctr">
              <a:lnSpc>
                <a:spcPct val="115000"/>
              </a:lnSpc>
              <a:buNone/>
            </a:pPr>
            <a:r>
              <a:rPr lang="en-US" sz="1400" dirty="0">
                <a:solidFill>
                  <a:srgbClr val="10201D"/>
                </a:solidFill>
                <a:latin typeface="IBM Plex Sans" pitchFamily="34" charset="0"/>
                <a:ea typeface="IBM Plex Sans" pitchFamily="34" charset="-122"/>
                <a:cs typeface="IBM Plex Sans" pitchFamily="34" charset="-120"/>
              </a:rPr>
              <a:t>SMS access for feature phones</a:t>
            </a:r>
            <a:endParaRPr lang="en-US" sz="1400" dirty="0"/>
          </a:p>
        </p:txBody>
      </p:sp>
      <p:sp>
        <p:nvSpPr>
          <p:cNvPr id="17" name="Shape 15"/>
          <p:cNvSpPr/>
          <p:nvPr/>
        </p:nvSpPr>
        <p:spPr>
          <a:xfrm>
            <a:off x="9484678" y="2894806"/>
            <a:ext cx="28574" cy="431800"/>
          </a:xfrm>
          <a:prstGeom prst="roundRect">
            <a:avLst>
              <a:gd name="adj" fmla="val 50000"/>
            </a:avLst>
          </a:prstGeom>
          <a:solidFill>
            <a:srgbClr val="CBCFC0"/>
          </a:solidFill>
          <a:ln/>
        </p:spPr>
      </p:sp>
      <p:sp>
        <p:nvSpPr>
          <p:cNvPr id="18" name="Shape 16"/>
          <p:cNvSpPr/>
          <p:nvPr/>
        </p:nvSpPr>
        <p:spPr>
          <a:xfrm>
            <a:off x="9418005" y="2813844"/>
            <a:ext cx="161921" cy="161925"/>
          </a:xfrm>
          <a:prstGeom prst="ellipse">
            <a:avLst/>
          </a:prstGeom>
          <a:solidFill>
            <a:srgbClr val="083C35"/>
          </a:solidFill>
          <a:ln/>
        </p:spPr>
      </p:sp>
      <p:sp>
        <p:nvSpPr>
          <p:cNvPr id="19" name="Text 17"/>
          <p:cNvSpPr/>
          <p:nvPr/>
        </p:nvSpPr>
        <p:spPr>
          <a:xfrm>
            <a:off x="7581016" y="3542506"/>
            <a:ext cx="3835899" cy="301724"/>
          </a:xfrm>
          <a:prstGeom prst="rect">
            <a:avLst/>
          </a:prstGeom>
          <a:noFill/>
          <a:ln/>
        </p:spPr>
        <p:txBody>
          <a:bodyPr wrap="none" lIns="0" tIns="0" rIns="0" bIns="0" rtlCol="0" anchor="t"/>
          <a:lstStyle/>
          <a:p>
            <a:pPr marL="0" indent="0" algn="ctr">
              <a:lnSpc>
                <a:spcPct val="110000"/>
              </a:lnSpc>
              <a:buNone/>
            </a:pPr>
            <a:r>
              <a:rPr lang="en-US" sz="1800" b="1" kern="100" spc="-36" dirty="0">
                <a:solidFill>
                  <a:srgbClr val="10201D"/>
                </a:solidFill>
                <a:latin typeface="Sora Bold" pitchFamily="34" charset="0"/>
                <a:ea typeface="Sora Bold" pitchFamily="34" charset="-122"/>
                <a:cs typeface="Sora Bold" pitchFamily="34" charset="-120"/>
              </a:rPr>
              <a:t>180 days</a:t>
            </a:r>
            <a:endParaRPr lang="en-US" sz="1800" dirty="0"/>
          </a:p>
        </p:txBody>
      </p:sp>
      <p:sp>
        <p:nvSpPr>
          <p:cNvPr id="20" name="Text 18"/>
          <p:cNvSpPr/>
          <p:nvPr/>
        </p:nvSpPr>
        <p:spPr>
          <a:xfrm>
            <a:off x="7581016" y="3973711"/>
            <a:ext cx="3835899" cy="245269"/>
          </a:xfrm>
          <a:prstGeom prst="rect">
            <a:avLst/>
          </a:prstGeom>
          <a:noFill/>
          <a:ln/>
        </p:spPr>
        <p:txBody>
          <a:bodyPr wrap="none" lIns="0" tIns="0" rIns="0" bIns="0" rtlCol="0" anchor="t"/>
          <a:lstStyle/>
          <a:p>
            <a:pPr marL="0" indent="0" algn="ctr">
              <a:lnSpc>
                <a:spcPct val="115000"/>
              </a:lnSpc>
              <a:buNone/>
            </a:pPr>
            <a:r>
              <a:rPr lang="en-US" sz="1400" dirty="0">
                <a:solidFill>
                  <a:srgbClr val="10201D"/>
                </a:solidFill>
                <a:latin typeface="IBM Plex Sans" pitchFamily="34" charset="0"/>
                <a:ea typeface="IBM Plex Sans" pitchFamily="34" charset="-122"/>
                <a:cs typeface="IBM Plex Sans" pitchFamily="34" charset="-120"/>
              </a:rPr>
              <a:t>Wearable SOS and multi-city</a:t>
            </a:r>
            <a:endParaRPr lang="en-US" sz="1400" dirty="0"/>
          </a:p>
        </p:txBody>
      </p:sp>
      <p:sp>
        <p:nvSpPr>
          <p:cNvPr id="21" name="Shape 19"/>
          <p:cNvSpPr/>
          <p:nvPr/>
        </p:nvSpPr>
        <p:spPr>
          <a:xfrm>
            <a:off x="558786" y="5022552"/>
            <a:ext cx="6461559" cy="1378248"/>
          </a:xfrm>
          <a:prstGeom prst="roundRect">
            <a:avLst>
              <a:gd name="adj" fmla="val 15480"/>
            </a:avLst>
          </a:prstGeom>
          <a:solidFill>
            <a:srgbClr val="FFFFFF"/>
          </a:solidFill>
          <a:ln w="6350">
            <a:solidFill>
              <a:srgbClr val="CBD4CE"/>
            </a:solidFill>
            <a:prstDash val="solid"/>
          </a:ln>
          <a:effectLst>
            <a:outerShdw blurRad="227330" dist="74930" dir="5400000" algn="bl" rotWithShape="0">
              <a:srgbClr val="083C35">
                <a:alpha val="10000"/>
              </a:srgbClr>
            </a:outerShdw>
          </a:effectLst>
        </p:spPr>
      </p:sp>
      <p:sp>
        <p:nvSpPr>
          <p:cNvPr id="22" name="Text 20"/>
          <p:cNvSpPr/>
          <p:nvPr/>
        </p:nvSpPr>
        <p:spPr>
          <a:xfrm>
            <a:off x="793730" y="5218132"/>
            <a:ext cx="5991670" cy="335260"/>
          </a:xfrm>
          <a:prstGeom prst="rect">
            <a:avLst/>
          </a:prstGeom>
          <a:noFill/>
          <a:ln/>
        </p:spPr>
        <p:txBody>
          <a:bodyPr wrap="none" lIns="0" tIns="0" rIns="0" bIns="0" rtlCol="0" anchor="t"/>
          <a:lstStyle/>
          <a:p>
            <a:pPr marL="0" indent="0" algn="l">
              <a:lnSpc>
                <a:spcPct val="110000"/>
              </a:lnSpc>
              <a:buNone/>
            </a:pPr>
            <a:r>
              <a:rPr lang="en-US" sz="2000" dirty="0">
                <a:solidFill>
                  <a:srgbClr val="10201D"/>
                </a:solidFill>
                <a:latin typeface="IBM Plex Sans" pitchFamily="34" charset="0"/>
                <a:ea typeface="IBM Plex Sans" pitchFamily="34" charset="-122"/>
                <a:cs typeface="IBM Plex Sans" pitchFamily="34" charset="-120"/>
              </a:rPr>
              <a:t>SahayaSetu: help, with trust.</a:t>
            </a:r>
            <a:endParaRPr lang="en-US" sz="2000" dirty="0"/>
          </a:p>
        </p:txBody>
      </p:sp>
      <p:sp>
        <p:nvSpPr>
          <p:cNvPr id="23" name="Text 21"/>
          <p:cNvSpPr/>
          <p:nvPr/>
        </p:nvSpPr>
        <p:spPr>
          <a:xfrm>
            <a:off x="793730" y="5731447"/>
            <a:ext cx="5991670" cy="490537"/>
          </a:xfrm>
          <a:prstGeom prst="rect">
            <a:avLst/>
          </a:prstGeom>
          <a:noFill/>
          <a:ln/>
        </p:spPr>
        <p:txBody>
          <a:bodyPr wrap="square" lIns="0" tIns="0" rIns="0" bIns="0" rtlCol="0" anchor="t">
            <a:normAutofit/>
          </a:bodyPr>
          <a:lstStyle/>
          <a:p>
            <a:pPr marL="0" indent="0" algn="l">
              <a:lnSpc>
                <a:spcPct val="115000"/>
              </a:lnSpc>
              <a:buNone/>
            </a:pPr>
            <a:r>
              <a:rPr lang="en-US" sz="1400" dirty="0">
                <a:solidFill>
                  <a:srgbClr val="10201D"/>
                </a:solidFill>
                <a:latin typeface="IBM Plex Sans" pitchFamily="34" charset="0"/>
                <a:ea typeface="IBM Plex Sans" pitchFamily="34" charset="-122"/>
                <a:cs typeface="IBM Plex Sans" pitchFamily="34" charset="-120"/>
              </a:rPr>
              <a:t>Thank you | [HIMESH BABU BATHULA], [SANJEEET], [OMPRAKASH], [RAKSHIT]</a:t>
            </a:r>
            <a:endParaRPr lang="en-US" sz="1400" dirty="0"/>
          </a:p>
        </p:txBody>
      </p:sp>
      <p:sp>
        <p:nvSpPr>
          <p:cNvPr id="24" name="Shape 22"/>
          <p:cNvSpPr/>
          <p:nvPr/>
        </p:nvSpPr>
        <p:spPr>
          <a:xfrm>
            <a:off x="7325038" y="5022552"/>
            <a:ext cx="4307871" cy="1378248"/>
          </a:xfrm>
          <a:prstGeom prst="roundRect">
            <a:avLst>
              <a:gd name="adj" fmla="val 15480"/>
            </a:avLst>
          </a:prstGeom>
          <a:solidFill>
            <a:srgbClr val="F2F4ED"/>
          </a:solidFill>
          <a:ln w="6350">
            <a:solidFill>
              <a:srgbClr val="CBD4CE"/>
            </a:solidFill>
            <a:prstDash val="solid"/>
          </a:ln>
          <a:effectLst>
            <a:outerShdw blurRad="227330" dist="74930" dir="5400000" algn="bl" rotWithShape="0">
              <a:srgbClr val="083C35">
                <a:alpha val="10000"/>
              </a:srgbClr>
            </a:outerShdw>
          </a:effectLst>
        </p:spPr>
      </p:sp>
      <p:sp>
        <p:nvSpPr>
          <p:cNvPr id="25" name="Text 23"/>
          <p:cNvSpPr/>
          <p:nvPr/>
        </p:nvSpPr>
        <p:spPr>
          <a:xfrm>
            <a:off x="7559982" y="5212036"/>
            <a:ext cx="3837983" cy="490537"/>
          </a:xfrm>
          <a:prstGeom prst="rect">
            <a:avLst/>
          </a:prstGeom>
          <a:noFill/>
          <a:ln/>
        </p:spPr>
        <p:txBody>
          <a:bodyPr wrap="square" lIns="0" tIns="0" rIns="0" bIns="0" rtlCol="0" anchor="t">
            <a:normAutofit/>
          </a:bodyPr>
          <a:lstStyle/>
          <a:p>
            <a:pPr marL="0" indent="0" algn="l">
              <a:lnSpc>
                <a:spcPct val="115000"/>
              </a:lnSpc>
              <a:buNone/>
            </a:pPr>
            <a:r>
              <a:rPr lang="en-US" sz="1400" b="1" dirty="0">
                <a:solidFill>
                  <a:srgbClr val="000000"/>
                </a:solidFill>
                <a:latin typeface="IBM Plex Sans Bold" pitchFamily="34" charset="0"/>
                <a:ea typeface="IBM Plex Sans Bold" pitchFamily="34" charset="-122"/>
                <a:cs typeface="IBM Plex Sans Bold" pitchFamily="34" charset="-120"/>
              </a:rPr>
              <a:t>[</a:t>
            </a:r>
            <a:r>
              <a:rPr lang="en-US" sz="1400" b="1" u="sng" dirty="0">
                <a:solidFill>
                  <a:srgbClr val="083C35"/>
                </a:solidFill>
                <a:latin typeface="IBM Plex Sans Bold" pitchFamily="34" charset="0"/>
                <a:ea typeface="IBM Plex Sans Bold" pitchFamily="34" charset="-122"/>
                <a:cs typeface="IBM Plex Sans Bold" pitchFamily="34" charset="-120"/>
                <a:hlinkClick r:id="rId3">
                  <a:extLst>
                    <a:ext uri="{A12FA001-AC4F-418D-AE19-62706E023703}">
                      <ahyp:hlinkClr xmlns:ahyp="http://schemas.microsoft.com/office/drawing/2018/hyperlinkcolor" val="tx"/>
                    </a:ext>
                  </a:extLst>
                </a:hlinkClick>
              </a:rPr>
              <a:t>https://sahaya-bridge-care.base44.app/login</a:t>
            </a:r>
            <a:r>
              <a:rPr lang="en-US" sz="1400" b="1" dirty="0">
                <a:solidFill>
                  <a:srgbClr val="000000"/>
                </a:solidFill>
                <a:latin typeface="IBM Plex Sans Bold" pitchFamily="34" charset="0"/>
                <a:ea typeface="IBM Plex Sans Bold" pitchFamily="34" charset="-122"/>
                <a:cs typeface="IBM Plex Sans Bold" pitchFamily="34" charset="-120"/>
              </a:rPr>
              <a:t>]</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83C35"/>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TotalTime>
  <Words>1327</Words>
  <Application>Microsoft Office PowerPoint</Application>
  <PresentationFormat>Widescreen</PresentationFormat>
  <Paragraphs>118</Paragraphs>
  <Slides>11</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IBM Plex Sans Bold</vt:lpstr>
      <vt:lpstr>IBM Plex Sans SemiBold</vt:lpstr>
      <vt:lpstr>Sora Bold</vt:lpstr>
      <vt:lpstr>Arial</vt:lpstr>
      <vt:lpstr>IBM Plex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Himesh Bathula</dc:creator>
  <cp:lastModifiedBy>Himesh Bathula</cp:lastModifiedBy>
  <cp:revision>2</cp:revision>
  <dcterms:created xsi:type="dcterms:W3CDTF">2026-10-10T04:43:07Z</dcterms:created>
  <dcterms:modified xsi:type="dcterms:W3CDTF">2026-10-10T05:15:58Z</dcterms:modified>
</cp:coreProperties>
</file>